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-bg.png"/>
          <p:cNvPicPr>
            <a:picLocks noChangeAspect="1"/>
          </p:cNvPicPr>
          <p:nvPr/>
        </p:nvPicPr>
        <p:blipFill>
          <a:blip r:embed="rId2"/>
          <a:srcRect l="5556" r="555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0" y="4064000"/>
            <a:ext cx="12192000" cy="2794000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381000"/>
            <a:ext cx="508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Helvetica Neue"/>
                <a:ea typeface="Helvetica Neue"/>
              </a:rPr>
              <a:t>FUTURE MOBILITY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17000" y="381000"/>
            <a:ext cx="241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Helvetica Neue"/>
                <a:ea typeface="Helvetica Neue"/>
              </a:rPr>
              <a:t>01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4318000"/>
            <a:ext cx="889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Helvetica Neue"/>
                <a:ea typeface="Helvetica Neue"/>
              </a:rPr>
              <a:t>CHAPTER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635500"/>
            <a:ext cx="8890000" cy="698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Helvetica Neue"/>
                <a:ea typeface="Helvetica Neue"/>
              </a:rPr>
              <a:t>行业洞察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5429250"/>
            <a:ext cx="8890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Helvetica Neue"/>
                <a:ea typeface="Helvetica Neue"/>
              </a:rPr>
              <a:t>新能源渗透率突破 50%，拐点已至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406400"/>
            <a:ext cx="508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E4053"/>
                </a:solidFill>
                <a:latin typeface="Helvetica Neue"/>
                <a:ea typeface="Helvetica Neue"/>
              </a:rPr>
              <a:t>FUTURE MOBILITY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0" y="406400"/>
            <a:ext cx="254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3CCD6"/>
                </a:solidFill>
                <a:latin typeface="Helvetica Neue"/>
                <a:ea typeface="Helvetica Neue"/>
              </a:rPr>
              <a:t>02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89000"/>
            <a:ext cx="1066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0392B"/>
                </a:solidFill>
                <a:latin typeface="Helvetica Neue"/>
                <a:ea typeface="Helvetica Neue"/>
              </a:rPr>
              <a:t>CHAPTER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130300"/>
            <a:ext cx="106680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1F2A33"/>
                </a:solidFill>
                <a:latin typeface="Helvetica Neue"/>
                <a:ea typeface="Helvetica Neue"/>
              </a:rPr>
              <a:t>行业洞察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6388100"/>
            <a:ext cx="10668000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6426200"/>
            <a:ext cx="1066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3CCD6"/>
                </a:solidFill>
                <a:latin typeface="Helvetica Neue"/>
                <a:ea typeface="Helvetica Neue"/>
              </a:rPr>
              <a:t>未来出行实验室</a:t>
            </a:r>
          </a:p>
        </p:txBody>
      </p:sp>
      <p:pic>
        <p:nvPicPr>
          <p:cNvPr id="9" name="Picture 8" descr="P2-img.png"/>
          <p:cNvPicPr>
            <a:picLocks noChangeAspect="1"/>
          </p:cNvPicPr>
          <p:nvPr/>
        </p:nvPicPr>
        <p:blipFill>
          <a:blip r:embed="rId2"/>
          <a:srcRect l="23333" r="23333"/>
          <a:stretch>
            <a:fillRect/>
          </a:stretch>
        </p:blipFill>
        <p:spPr>
          <a:xfrm>
            <a:off x="0" y="0"/>
            <a:ext cx="5486400" cy="6858000"/>
          </a:xfrm>
          <a:prstGeom prst="rect">
            <a:avLst/>
          </a:prstGeom>
          <a:ln>
            <a:noFill/>
          </a:ln>
        </p:spPr>
      </p:pic>
      <p:sp>
        <p:nvSpPr>
          <p:cNvPr id="10" name="Rectangle 9"/>
          <p:cNvSpPr/>
          <p:nvPr/>
        </p:nvSpPr>
        <p:spPr>
          <a:xfrm>
            <a:off x="5486400" y="0"/>
            <a:ext cx="67056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84900" y="3365500"/>
            <a:ext cx="38100" cy="6096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84900" y="4127500"/>
            <a:ext cx="508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C0392B"/>
                </a:solidFill>
                <a:latin typeface="Helvetica Neue"/>
                <a:ea typeface="Helvetica Neue"/>
              </a:rPr>
              <a:t>CHAPTER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84900" y="4445000"/>
            <a:ext cx="50800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1F2A33"/>
                </a:solidFill>
                <a:latin typeface="Helvetica Neue"/>
                <a:ea typeface="Helvetica Neue"/>
              </a:rPr>
              <a:t>行业洞察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4900" y="5365750"/>
            <a:ext cx="508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0392B"/>
                </a:solidFill>
                <a:latin typeface="Helvetica Neue"/>
                <a:ea typeface="Helvetica Neue"/>
              </a:rPr>
              <a:t>INDUSTRY 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4900" y="5683250"/>
            <a:ext cx="5080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A727B"/>
                </a:solidFill>
                <a:latin typeface="Helvetica Neue"/>
                <a:ea typeface="Helvetica Neue"/>
              </a:rPr>
              <a:t>新能源渗透率突破 50%，拐点已至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406400"/>
            <a:ext cx="508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E4053"/>
                </a:solidFill>
                <a:latin typeface="Helvetica Neue"/>
                <a:ea typeface="Helvetica Neue"/>
              </a:rPr>
              <a:t>FUTURE MOBILITY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0" y="406400"/>
            <a:ext cx="254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3CCD6"/>
                </a:solidFill>
                <a:latin typeface="Helvetica Neue"/>
                <a:ea typeface="Helvetica Neue"/>
              </a:rPr>
              <a:t>03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89000"/>
            <a:ext cx="1066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0392B"/>
                </a:solidFill>
                <a:latin typeface="Helvetica Neue"/>
                <a:ea typeface="Helvetica Neue"/>
              </a:rPr>
              <a:t>CHAPTER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130300"/>
            <a:ext cx="106680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1F2A33"/>
                </a:solidFill>
                <a:latin typeface="Helvetica Neue"/>
                <a:ea typeface="Helvetica Neue"/>
              </a:rPr>
              <a:t>行业洞察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6388100"/>
            <a:ext cx="10668000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6426200"/>
            <a:ext cx="1066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3CCD6"/>
                </a:solidFill>
                <a:latin typeface="Helvetica Neue"/>
                <a:ea typeface="Helvetica Neue"/>
              </a:rPr>
              <a:t>未来出行实验室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540000"/>
            <a:ext cx="1066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6A727B"/>
                </a:solidFill>
                <a:latin typeface="Helvetica Neue"/>
                <a:ea typeface="Helvetica Neue"/>
              </a:rPr>
              <a:t>CHAPTER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921000"/>
            <a:ext cx="106680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1F2A33"/>
                </a:solidFill>
                <a:latin typeface="Helvetica Neue"/>
                <a:ea typeface="Helvetica Neue"/>
              </a:rPr>
              <a:t>行业洞察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92800" y="3968750"/>
            <a:ext cx="406400" cy="1905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4127500"/>
            <a:ext cx="1066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0392B"/>
                </a:solidFill>
                <a:latin typeface="Helvetica Neue"/>
                <a:ea typeface="Helvetica Neue"/>
              </a:rPr>
              <a:t>INDUSTRY INSIGHT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4445000"/>
            <a:ext cx="10668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A727B"/>
                </a:solidFill>
                <a:latin typeface="Helvetica Neue"/>
                <a:ea typeface="Helvetica Neue"/>
              </a:rPr>
              <a:t>新能源渗透率突破 50%，拐点已至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698500"/>
            <a:ext cx="38100" cy="61595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70000" y="2095499"/>
            <a:ext cx="889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C0392B"/>
                </a:solidFill>
                <a:latin typeface="Helvetica Neue"/>
                <a:ea typeface="Helvetica Neue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44600" y="2413000"/>
            <a:ext cx="3810000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800" b="1">
                <a:solidFill>
                  <a:srgbClr val="C0392B"/>
                </a:solidFill>
                <a:latin typeface="Helvetica Neue"/>
                <a:ea typeface="Helvetica Neue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0000" y="3556000"/>
            <a:ext cx="8890000" cy="698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F4F6F8"/>
                </a:solidFill>
                <a:latin typeface="Helvetica Neue"/>
                <a:ea typeface="Helvetica Neue"/>
              </a:rPr>
              <a:t>行业洞察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0000" y="4381500"/>
            <a:ext cx="889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0392B"/>
                </a:solidFill>
                <a:latin typeface="Helvetica Neue"/>
                <a:ea typeface="Helvetica Neue"/>
              </a:rPr>
              <a:t>INDUSTRY 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70000" y="4699000"/>
            <a:ext cx="8890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C3CCD6"/>
                </a:solidFill>
                <a:latin typeface="Helvetica Neue"/>
                <a:ea typeface="Helvetica Neue"/>
              </a:rPr>
              <a:t>新能源渗透率突破 50%，拐点已至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70000" y="6223000"/>
            <a:ext cx="889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C3CCD6"/>
                </a:solidFill>
                <a:latin typeface="Helvetica Neue"/>
                <a:ea typeface="Helvetica Neue"/>
              </a:rPr>
              <a:t>未来出行实验室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406400"/>
            <a:ext cx="508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E4053"/>
                </a:solidFill>
                <a:latin typeface="Helvetica Neue"/>
                <a:ea typeface="Helvetica Neue"/>
              </a:rPr>
              <a:t>FUTURE MOBILITY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0" y="406400"/>
            <a:ext cx="254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3CCD6"/>
                </a:solidFill>
                <a:latin typeface="Helvetica Neue"/>
                <a:ea typeface="Helvetica Neue"/>
              </a:rPr>
              <a:t>05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89000"/>
            <a:ext cx="1066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0392B"/>
                </a:solidFill>
                <a:latin typeface="Helvetica Neue"/>
                <a:ea typeface="Helvetica Neue"/>
              </a:rPr>
              <a:t>CHAPTER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130300"/>
            <a:ext cx="106680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1F2A33"/>
                </a:solidFill>
                <a:latin typeface="Helvetica Neue"/>
                <a:ea typeface="Helvetica Neue"/>
              </a:rPr>
              <a:t>行业洞察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6388100"/>
            <a:ext cx="10668000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6426200"/>
            <a:ext cx="1066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3CCD6"/>
                </a:solidFill>
                <a:latin typeface="Helvetica Neue"/>
                <a:ea typeface="Helvetica Neue"/>
              </a:rPr>
              <a:t>未来出行实验室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079500"/>
            <a:ext cx="889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C0392B"/>
                </a:solidFill>
                <a:latin typeface="Helvetica Neue"/>
                <a:ea typeface="Helvetica Neue"/>
              </a:rPr>
              <a:t>CHAPTER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1397000"/>
            <a:ext cx="8890000" cy="698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1F2A33"/>
                </a:solidFill>
                <a:latin typeface="Helvetica Neue"/>
                <a:ea typeface="Helvetica Neue"/>
              </a:rPr>
              <a:t>行业洞察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2190750"/>
            <a:ext cx="889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0392B"/>
                </a:solidFill>
                <a:latin typeface="Helvetica Neue"/>
                <a:ea typeface="Helvetica Neue"/>
              </a:rPr>
              <a:t>INDUSTRY INSIGHT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2476500"/>
            <a:ext cx="8890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A727B"/>
                </a:solidFill>
                <a:latin typeface="Helvetica Neue"/>
                <a:ea typeface="Helvetica Neue"/>
              </a:rPr>
              <a:t>新能源渗透率突破 50%，拐点已至</a:t>
            </a:r>
          </a:p>
        </p:txBody>
      </p:sp>
      <p:pic>
        <p:nvPicPr>
          <p:cNvPr id="13" name="Picture 12" descr="P6-img.png"/>
          <p:cNvPicPr>
            <a:picLocks noChangeAspect="1"/>
          </p:cNvPicPr>
          <p:nvPr/>
        </p:nvPicPr>
        <p:blipFill>
          <a:blip r:embed="rId2"/>
          <a:srcRect t="36719" b="36719"/>
          <a:stretch>
            <a:fillRect/>
          </a:stretch>
        </p:blipFill>
        <p:spPr>
          <a:xfrm>
            <a:off x="0" y="3556000"/>
            <a:ext cx="12192000" cy="2159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406400"/>
            <a:ext cx="508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E4053"/>
                </a:solidFill>
                <a:latin typeface="Helvetica Neue"/>
                <a:ea typeface="Helvetica Neue"/>
              </a:rPr>
              <a:t>FUTURE MOBILITY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0" y="406400"/>
            <a:ext cx="254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3CCD6"/>
                </a:solidFill>
                <a:latin typeface="Helvetica Neue"/>
                <a:ea typeface="Helvetica Neue"/>
              </a:rPr>
              <a:t>06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89000"/>
            <a:ext cx="1066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0392B"/>
                </a:solidFill>
                <a:latin typeface="Helvetica Neue"/>
                <a:ea typeface="Helvetica Neue"/>
              </a:rPr>
              <a:t>CHAPTER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130300"/>
            <a:ext cx="106680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1F2A33"/>
                </a:solidFill>
                <a:latin typeface="Helvetica Neue"/>
                <a:ea typeface="Helvetica Neue"/>
              </a:rPr>
              <a:t>新能源渗透率突破50%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6388100"/>
            <a:ext cx="10668000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6426200"/>
            <a:ext cx="1066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3CCD6"/>
                </a:solidFill>
                <a:latin typeface="Helvetica Neue"/>
                <a:ea typeface="Helvetica Neue"/>
              </a:rPr>
              <a:t>未来出行实验室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095499"/>
            <a:ext cx="1066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C0392B"/>
                </a:solidFill>
                <a:latin typeface="Helvetica Neue"/>
                <a:ea typeface="Helvetica Neue"/>
              </a:rPr>
              <a:t>CHAPTER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51000" y="2540000"/>
            <a:ext cx="8890000" cy="1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1F2A33"/>
                </a:solidFill>
                <a:latin typeface="Helvetica Neue"/>
                <a:ea typeface="Helvetica Neue"/>
              </a:rPr>
              <a:t>新能源渗透率突破50%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51000" y="3937000"/>
            <a:ext cx="8890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A727B"/>
                </a:solidFill>
                <a:latin typeface="Helvetica Neue"/>
                <a:ea typeface="Helvetica Neue"/>
              </a:rPr>
              <a:t>2026 年，中国新能源汽车迎来历史性拐点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0" y="5715000"/>
            <a:ext cx="1905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C0392B"/>
                </a:solidFill>
                <a:latin typeface="Helvetica Neue"/>
                <a:ea typeface="Helvetica Neue"/>
              </a:rPr>
              <a:t>INDUSTRY INSIGHT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406400"/>
            <a:ext cx="508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E4053"/>
                </a:solidFill>
                <a:latin typeface="Helvetica Neue"/>
                <a:ea typeface="Helvetica Neue"/>
              </a:rPr>
              <a:t>FUTURE MOBILITY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0" y="406400"/>
            <a:ext cx="254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3CCD6"/>
                </a:solidFill>
                <a:latin typeface="Helvetica Neue"/>
                <a:ea typeface="Helvetica Neue"/>
              </a:rPr>
              <a:t>07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89000"/>
            <a:ext cx="1066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0392B"/>
                </a:solidFill>
                <a:latin typeface="Helvetica Neue"/>
                <a:ea typeface="Helvetica Neue"/>
              </a:rPr>
              <a:t>CHAPTER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130300"/>
            <a:ext cx="106680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1F2A33"/>
                </a:solidFill>
                <a:latin typeface="Helvetica Neue"/>
                <a:ea typeface="Helvetica Neue"/>
              </a:rPr>
              <a:t>行业洞察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6388100"/>
            <a:ext cx="10668000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6426200"/>
            <a:ext cx="1066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3CCD6"/>
                </a:solidFill>
                <a:latin typeface="Helvetica Neue"/>
                <a:ea typeface="Helvetica Neue"/>
              </a:rPr>
              <a:t>未来出行实验室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540000"/>
            <a:ext cx="1066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C0392B"/>
                </a:solidFill>
                <a:latin typeface="Helvetica Neue"/>
                <a:ea typeface="Helvetica Neue"/>
              </a:rPr>
              <a:t>CHAPTER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889250"/>
            <a:ext cx="10668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1F2A33"/>
                </a:solidFill>
                <a:latin typeface="Helvetica Neue"/>
                <a:ea typeface="Helvetica Neue"/>
              </a:rPr>
              <a:t>行业洞察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746500"/>
            <a:ext cx="1066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0392B"/>
                </a:solidFill>
                <a:latin typeface="Helvetica Neue"/>
                <a:ea typeface="Helvetica Neue"/>
              </a:rPr>
              <a:t>INDUSTRY INSIGHT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83000" y="4445000"/>
            <a:ext cx="4826000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8500" y="4699000"/>
            <a:ext cx="635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C0392B"/>
                </a:solidFill>
                <a:latin typeface="Helvetica Neue"/>
                <a:ea typeface="Helvetica Neue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43500" y="4699000"/>
            <a:ext cx="635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C0392B"/>
                </a:solidFill>
                <a:latin typeface="Helvetica Neue"/>
                <a:ea typeface="Helvetica Neue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78500" y="4699000"/>
            <a:ext cx="635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C0392B"/>
                </a:solidFill>
                <a:latin typeface="Helvetica Neue"/>
                <a:ea typeface="Helvetica Neue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3500" y="4699000"/>
            <a:ext cx="635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C0392B"/>
                </a:solidFill>
                <a:latin typeface="Helvetica Neue"/>
                <a:ea typeface="Helvetica Neue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8500" y="4699000"/>
            <a:ext cx="635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C0392B"/>
                </a:solidFill>
                <a:latin typeface="Helvetica Neue"/>
                <a:ea typeface="Helvetica Neue"/>
              </a:rPr>
              <a:t>05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0" y="2159000"/>
            <a:ext cx="6096000" cy="2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0" b="1">
                <a:solidFill>
                  <a:srgbClr val="1F2A33"/>
                </a:solidFill>
                <a:latin typeface="Helvetica Neue"/>
                <a:ea typeface="Helvetica Neue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413000"/>
            <a:ext cx="4826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C0392B"/>
                </a:solidFill>
                <a:latin typeface="Helvetica Neue"/>
                <a:ea typeface="Helvetica Neue"/>
              </a:rPr>
              <a:t>CHAPTER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794000"/>
            <a:ext cx="4826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4F6F8"/>
                </a:solidFill>
                <a:latin typeface="Helvetica Neue"/>
                <a:ea typeface="Helvetica Neue"/>
              </a:rPr>
              <a:t>行业洞察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873499"/>
            <a:ext cx="482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0392B"/>
                </a:solidFill>
                <a:latin typeface="Helvetica Neue"/>
                <a:ea typeface="Helvetica Neue"/>
              </a:rPr>
              <a:t>INDUSTRY 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190999"/>
            <a:ext cx="4445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C3CCD6"/>
                </a:solidFill>
                <a:latin typeface="Helvetica Neue"/>
                <a:ea typeface="Helvetica Neue"/>
              </a:rPr>
              <a:t>新能源渗透率突破 50%，拐点已至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223000"/>
            <a:ext cx="482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C3CCD6"/>
                </a:solidFill>
                <a:latin typeface="Helvetica Neue"/>
                <a:ea typeface="Helvetica Neue"/>
              </a:rPr>
              <a:t>未来出行实验室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406400"/>
            <a:ext cx="508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E4053"/>
                </a:solidFill>
                <a:latin typeface="Helvetica Neue"/>
                <a:ea typeface="Helvetica Neue"/>
              </a:rPr>
              <a:t>FUTURE MOBILITY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0" y="406400"/>
            <a:ext cx="254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3CCD6"/>
                </a:solidFill>
                <a:latin typeface="Helvetica Neue"/>
                <a:ea typeface="Helvetica Neue"/>
              </a:rPr>
              <a:t>09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89000"/>
            <a:ext cx="1066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0392B"/>
                </a:solidFill>
                <a:latin typeface="Helvetica Neue"/>
                <a:ea typeface="Helvetica Neue"/>
              </a:rPr>
              <a:t>CHAPTER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130300"/>
            <a:ext cx="106680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1F2A33"/>
                </a:solidFill>
                <a:latin typeface="Helvetica Neue"/>
                <a:ea typeface="Helvetica Neue"/>
              </a:rPr>
              <a:t>目录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6388100"/>
            <a:ext cx="10668000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6426200"/>
            <a:ext cx="1066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3CCD6"/>
                </a:solidFill>
                <a:latin typeface="Helvetica Neue"/>
                <a:ea typeface="Helvetica Neue"/>
              </a:rPr>
              <a:t>未来出行实验室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222500"/>
            <a:ext cx="4445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C0392B"/>
                </a:solidFill>
                <a:latin typeface="Helvetica Neue"/>
                <a:ea typeface="Helvetica Neue"/>
              </a:rPr>
              <a:t>CHAPTER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571750"/>
            <a:ext cx="4445000" cy="1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F2A33"/>
                </a:solidFill>
                <a:latin typeface="Helvetica Neue"/>
                <a:ea typeface="Helvetica Neue"/>
              </a:rPr>
              <a:t>目录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937000"/>
            <a:ext cx="444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0392B"/>
                </a:solidFill>
                <a:latin typeface="Helvetica Neue"/>
                <a:ea typeface="Helvetica Neue"/>
              </a:rPr>
              <a:t>CONTENTS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2222500"/>
            <a:ext cx="6985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C0392B"/>
                </a:solidFill>
                <a:latin typeface="Helvetica Neue"/>
                <a:ea typeface="Helvetica Neue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0500" y="2247900"/>
            <a:ext cx="47625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F2A33"/>
                </a:solidFill>
                <a:latin typeface="Helvetica Neue"/>
                <a:ea typeface="Helvetica Neue"/>
              </a:rPr>
              <a:t>行业洞察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2654300"/>
            <a:ext cx="6985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C0392B"/>
                </a:solidFill>
                <a:latin typeface="Helvetica Neue"/>
                <a:ea typeface="Helvetica Neue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0500" y="2679700"/>
            <a:ext cx="47625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F2A33"/>
                </a:solidFill>
                <a:latin typeface="Helvetica Neue"/>
                <a:ea typeface="Helvetica Neue"/>
              </a:rPr>
              <a:t>核心技术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3086100"/>
            <a:ext cx="6985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C0392B"/>
                </a:solidFill>
                <a:latin typeface="Helvetica Neue"/>
                <a:ea typeface="Helvetica Neue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0500" y="3111500"/>
            <a:ext cx="47625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F2A33"/>
                </a:solidFill>
                <a:latin typeface="Helvetica Neue"/>
                <a:ea typeface="Helvetica Neue"/>
              </a:rPr>
              <a:t>产品矩阵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0" y="3517900"/>
            <a:ext cx="6985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C0392B"/>
                </a:solidFill>
                <a:latin typeface="Helvetica Neue"/>
                <a:ea typeface="Helvetica Neue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0500" y="3543300"/>
            <a:ext cx="47625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F2A33"/>
                </a:solidFill>
                <a:latin typeface="Helvetica Neue"/>
                <a:ea typeface="Helvetica Neue"/>
              </a:rPr>
              <a:t>服务生态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0" y="3949700"/>
            <a:ext cx="6985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C0392B"/>
                </a:solidFill>
                <a:latin typeface="Helvetica Neue"/>
                <a:ea typeface="Helvetica Neue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0500" y="3975100"/>
            <a:ext cx="47625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F2A33"/>
                </a:solidFill>
                <a:latin typeface="Helvetica Neue"/>
                <a:ea typeface="Helvetica Neue"/>
              </a:rPr>
              <a:t>未来之路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406400"/>
            <a:ext cx="508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E4053"/>
                </a:solidFill>
                <a:latin typeface="Helvetica Neue"/>
                <a:ea typeface="Helvetica Neue"/>
              </a:rPr>
              <a:t>FUTURE MOBILITY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0" y="406400"/>
            <a:ext cx="254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3CCD6"/>
                </a:solidFill>
                <a:latin typeface="Helvetica Neue"/>
                <a:ea typeface="Helvetica Neue"/>
              </a:rPr>
              <a:t>10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89000"/>
            <a:ext cx="1066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0392B"/>
                </a:solidFill>
                <a:latin typeface="Helvetica Neue"/>
                <a:ea typeface="Helvetica Neue"/>
              </a:rPr>
              <a:t>CHAPTER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130300"/>
            <a:ext cx="106680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1F2A33"/>
                </a:solidFill>
                <a:latin typeface="Helvetica Neue"/>
                <a:ea typeface="Helvetica Neue"/>
              </a:rPr>
              <a:t>行业洞察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6388100"/>
            <a:ext cx="10668000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6426200"/>
            <a:ext cx="1066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3CCD6"/>
                </a:solidFill>
                <a:latin typeface="Helvetica Neue"/>
                <a:ea typeface="Helvetica Neue"/>
              </a:rPr>
              <a:t>未来出行实验室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667000"/>
            <a:ext cx="1066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C0392B"/>
                </a:solidFill>
                <a:latin typeface="Helvetica Neue"/>
                <a:ea typeface="Helvetica Neue"/>
              </a:rPr>
              <a:t>CHAPTER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048000"/>
            <a:ext cx="106680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1F2A33"/>
                </a:solidFill>
                <a:latin typeface="Helvetica Neue"/>
                <a:ea typeface="Helvetica Neue"/>
              </a:rPr>
              <a:t>行业洞察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4000500"/>
            <a:ext cx="1066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0392B"/>
                </a:solidFill>
                <a:latin typeface="Helvetica Neue"/>
                <a:ea typeface="Helvetica Neue"/>
              </a:rPr>
              <a:t>INDUSTRY INSIGHT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4349750"/>
            <a:ext cx="10668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A727B"/>
                </a:solidFill>
                <a:latin typeface="Helvetica Neue"/>
                <a:ea typeface="Helvetica Neue"/>
              </a:rPr>
              <a:t>新能源渗透率突破 50%，拐点已至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70000" y="2413000"/>
            <a:ext cx="889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C0392B"/>
                </a:solidFill>
                <a:latin typeface="Helvetica Neue"/>
                <a:ea typeface="Helvetica Neue"/>
              </a:rPr>
              <a:t>CHAPTER 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270000" y="2825750"/>
            <a:ext cx="457200" cy="254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70000" y="3048000"/>
            <a:ext cx="9652000" cy="139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F4F6F8"/>
                </a:solidFill>
                <a:latin typeface="Helvetica Neue"/>
                <a:ea typeface="Helvetica Neue"/>
              </a:rPr>
              <a:t>行业洞察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0000" y="4572000"/>
            <a:ext cx="9652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F4F6F8"/>
                </a:solidFill>
                <a:latin typeface="Helvetica Neue"/>
                <a:ea typeface="Helvetica Neue"/>
              </a:rPr>
              <a:t>接下来，我们将深入拆解市场的结构性变化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0000" y="5238750"/>
            <a:ext cx="965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0392B"/>
                </a:solidFill>
                <a:latin typeface="Helvetica Neue"/>
                <a:ea typeface="Helvetica Neue"/>
              </a:rPr>
              <a:t>INDUSTRY 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70000" y="6223000"/>
            <a:ext cx="889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C3CCD6"/>
                </a:solidFill>
                <a:latin typeface="Helvetica Neue"/>
                <a:ea typeface="Helvetica Neue"/>
              </a:rPr>
              <a:t>未来出行实验室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