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SALES / 销量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华东大区贡献 38% 销量，是第一增长引擎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pic>
        <p:nvPicPr>
          <p:cNvPr id="9" name="Picture 8" descr="g1.png"/>
          <p:cNvPicPr>
            <a:picLocks noChangeAspect="1"/>
          </p:cNvPicPr>
          <p:nvPr/>
        </p:nvPicPr>
        <p:blipFill>
          <a:blip r:embed="rId2"/>
          <a:srcRect t="3583" b="3583"/>
          <a:stretch>
            <a:fillRect/>
          </a:stretch>
        </p:blipFill>
        <p:spPr>
          <a:xfrm>
            <a:off x="609600" y="2159000"/>
            <a:ext cx="6858000" cy="3556000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09600" y="5810250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A727B"/>
                </a:solidFill>
                <a:latin typeface="Helvetica Neue"/>
                <a:ea typeface="Helvetica Neue"/>
              </a:rPr>
              <a:t>来源：乘联会；口径：批发销量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74000" y="2159000"/>
            <a:ext cx="3708400" cy="266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8000" y="2413000"/>
            <a:ext cx="3200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A727B"/>
                </a:solidFill>
                <a:latin typeface="Helvetica Neue"/>
                <a:ea typeface="Helvetica Neue"/>
              </a:rPr>
              <a:t>核心发现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0" y="2730500"/>
            <a:ext cx="32004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C0392B"/>
                </a:solidFill>
                <a:latin typeface="Helvetica Neue"/>
                <a:ea typeface="Helvetica Neue"/>
              </a:rPr>
              <a:t>50.2%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0" y="3429000"/>
            <a:ext cx="32004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F2A33"/>
                </a:solidFill>
                <a:latin typeface="Helvetica Neue"/>
                <a:ea typeface="Helvetica Neue"/>
              </a:rPr>
              <a:t>新能源渗透率首次突破 50%，电动化拐点已至，直营渠道成为增长主引擎。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TREND / 趋势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四个大区同步上行，华东增速领跑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pic>
        <p:nvPicPr>
          <p:cNvPr id="9" name="Picture 8" descr="g2.png"/>
          <p:cNvPicPr>
            <a:picLocks noChangeAspect="1"/>
          </p:cNvPicPr>
          <p:nvPr/>
        </p:nvPicPr>
        <p:blipFill>
          <a:blip r:embed="rId2"/>
          <a:srcRect t="15009" b="15009"/>
          <a:stretch>
            <a:fillRect/>
          </a:stretch>
        </p:blipFill>
        <p:spPr>
          <a:xfrm>
            <a:off x="609600" y="2159000"/>
            <a:ext cx="10972800" cy="3556000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09600" y="5810250"/>
            <a:ext cx="1097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A727B"/>
                </a:solidFill>
                <a:latin typeface="Helvetica Neue"/>
                <a:ea typeface="Helvetica Neue"/>
              </a:rPr>
              <a:t>来源：乘联会；口径：批发销量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PROFIT / 利润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规模效应消化价格战，单车利润回升 12%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pic>
        <p:nvPicPr>
          <p:cNvPr id="9" name="Picture 8" descr="g3.png"/>
          <p:cNvPicPr>
            <a:picLocks noChangeAspect="1"/>
          </p:cNvPicPr>
          <p:nvPr/>
        </p:nvPicPr>
        <p:blipFill>
          <a:blip r:embed="rId2"/>
          <a:srcRect t="9079" b="9079"/>
          <a:stretch>
            <a:fillRect/>
          </a:stretch>
        </p:blipFill>
        <p:spPr>
          <a:xfrm>
            <a:off x="609600" y="2159000"/>
            <a:ext cx="10972800" cy="3556000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09600" y="5810250"/>
            <a:ext cx="1097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A727B"/>
                </a:solidFill>
                <a:latin typeface="Helvetica Neue"/>
                <a:ea typeface="Helvetica Neue"/>
              </a:rPr>
              <a:t>来源：公司财报；口径：单车毛利，亿元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SALES / 销量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销量与渗透率双升，电动化不可逆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pic>
        <p:nvPicPr>
          <p:cNvPr id="9" name="Picture 8" descr="g4.png"/>
          <p:cNvPicPr>
            <a:picLocks noChangeAspect="1"/>
          </p:cNvPicPr>
          <p:nvPr/>
        </p:nvPicPr>
        <p:blipFill>
          <a:blip r:embed="rId2"/>
          <a:srcRect t="9097" b="9097"/>
          <a:stretch>
            <a:fillRect/>
          </a:stretch>
        </p:blipFill>
        <p:spPr>
          <a:xfrm>
            <a:off x="609600" y="2159000"/>
            <a:ext cx="10972800" cy="3556000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09600" y="5810250"/>
            <a:ext cx="1097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A727B"/>
                </a:solidFill>
                <a:latin typeface="Helvetica Neue"/>
                <a:ea typeface="Helvetica Neue"/>
              </a:rPr>
              <a:t>来源：乘联会；口径：批发销量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SALES / 销量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Q3 销量环比 +18%，全年目标完成 82%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pic>
        <p:nvPicPr>
          <p:cNvPr id="9" name="Picture 8" descr="g5.png"/>
          <p:cNvPicPr>
            <a:picLocks noChangeAspect="1"/>
          </p:cNvPicPr>
          <p:nvPr/>
        </p:nvPicPr>
        <p:blipFill>
          <a:blip r:embed="rId2"/>
          <a:srcRect t="19309" b="19309"/>
          <a:stretch>
            <a:fillRect/>
          </a:stretch>
        </p:blipFill>
        <p:spPr>
          <a:xfrm>
            <a:off x="609600" y="2095499"/>
            <a:ext cx="10972800" cy="2667000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09600" y="5016500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F2A33"/>
                </a:solidFill>
                <a:latin typeface="Helvetica Neue"/>
                <a:ea typeface="Helvetica Neue"/>
              </a:rPr>
              <a:t>Q1 ｜ 28 ｜ — ｜ 23%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295900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F2A33"/>
                </a:solidFill>
                <a:latin typeface="Helvetica Neue"/>
                <a:ea typeface="Helvetica Neue"/>
              </a:rPr>
              <a:t>Q2 ｜ 36 ｜ +29% ｜ 53%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575300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F2A33"/>
                </a:solidFill>
                <a:latin typeface="Helvetica Neue"/>
                <a:ea typeface="Helvetica Neue"/>
              </a:rPr>
              <a:t>Q3 ｜ 42 ｜ +17% ｜ 82%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854700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F2A33"/>
                </a:solidFill>
                <a:latin typeface="Helvetica Neue"/>
                <a:ea typeface="Helvetica Neue"/>
              </a:rPr>
              <a:t>Q4E ｜ 48 ｜ +14% ｜ 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0325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A727B"/>
                </a:solidFill>
                <a:latin typeface="Helvetica Neue"/>
                <a:ea typeface="Helvetica Neue"/>
              </a:rPr>
              <a:t>来源：乘联会；口径：批发销量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GROWTH / 增长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年销量突破 120 万辆，八年 CAGR 达 34%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pic>
        <p:nvPicPr>
          <p:cNvPr id="9" name="Picture 8" descr="g6.png"/>
          <p:cNvPicPr>
            <a:picLocks noChangeAspect="1"/>
          </p:cNvPicPr>
          <p:nvPr/>
        </p:nvPicPr>
        <p:blipFill>
          <a:blip r:embed="rId2"/>
          <a:srcRect t="9353" b="9353"/>
          <a:stretch>
            <a:fillRect/>
          </a:stretch>
        </p:blipFill>
        <p:spPr>
          <a:xfrm>
            <a:off x="609600" y="2159000"/>
            <a:ext cx="10972800" cy="3556000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09600" y="5810250"/>
            <a:ext cx="1097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A727B"/>
                </a:solidFill>
                <a:latin typeface="Helvetica Neue"/>
                <a:ea typeface="Helvetica Neue"/>
              </a:rPr>
              <a:t>来源：乘联会；口径：批发销量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Q3 / 三季度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Q3 经营全面超预期，四个核心指标全线飘红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159000"/>
            <a:ext cx="2590800" cy="1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" y="2286000"/>
            <a:ext cx="223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A727B"/>
                </a:solidFill>
                <a:latin typeface="Helvetica Neue"/>
                <a:ea typeface="Helvetica Neue"/>
              </a:rPr>
              <a:t>销量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2540000"/>
            <a:ext cx="22352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F2A33"/>
                </a:solidFill>
                <a:latin typeface="Helvetica Neue"/>
                <a:ea typeface="Helvetica Neue"/>
              </a:rPr>
              <a:t>42万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" y="3048000"/>
            <a:ext cx="2235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Helvetica Neue"/>
                <a:ea typeface="Helvetica Neue"/>
              </a:rPr>
              <a:t>+18.2%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2800" y="2159000"/>
            <a:ext cx="2590800" cy="1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0600" y="2286000"/>
            <a:ext cx="223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A727B"/>
                </a:solidFill>
                <a:latin typeface="Helvetica Neue"/>
                <a:ea typeface="Helvetica Neue"/>
              </a:rPr>
              <a:t>渗透率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0600" y="2540000"/>
            <a:ext cx="22352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F2A33"/>
                </a:solidFill>
                <a:latin typeface="Helvetica Neue"/>
                <a:ea typeface="Helvetica Neue"/>
              </a:rPr>
              <a:t>55%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600" y="3048000"/>
            <a:ext cx="2235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Helvetica Neue"/>
                <a:ea typeface="Helvetica Neue"/>
              </a:rPr>
              <a:t>+6.0pp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2159000"/>
            <a:ext cx="2590800" cy="1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3800" y="2286000"/>
            <a:ext cx="223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A727B"/>
                </a:solidFill>
                <a:latin typeface="Helvetica Neue"/>
                <a:ea typeface="Helvetica Neue"/>
              </a:rPr>
              <a:t>市占率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3800" y="2540000"/>
            <a:ext cx="22352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F2A33"/>
                </a:solidFill>
                <a:latin typeface="Helvetica Neue"/>
                <a:ea typeface="Helvetica Neue"/>
              </a:rPr>
              <a:t>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800" y="3048000"/>
            <a:ext cx="2235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Helvetica Neue"/>
                <a:ea typeface="Helvetica Neue"/>
              </a:rPr>
              <a:t>+2.1pp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39200" y="2159000"/>
            <a:ext cx="2590800" cy="1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17000" y="2286000"/>
            <a:ext cx="223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A727B"/>
                </a:solidFill>
                <a:latin typeface="Helvetica Neue"/>
                <a:ea typeface="Helvetica Neue"/>
              </a:rPr>
              <a:t>NPS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7000" y="2540000"/>
            <a:ext cx="22352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F2A33"/>
                </a:solidFill>
                <a:latin typeface="Helvetica Neue"/>
                <a:ea typeface="Helvetica Neue"/>
              </a:rPr>
              <a:t>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7000" y="3048000"/>
            <a:ext cx="2235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Helvetica Neue"/>
                <a:ea typeface="Helvetica Neue"/>
              </a:rPr>
              <a:t>+4</a:t>
            </a:r>
          </a:p>
        </p:txBody>
      </p:sp>
      <p:pic>
        <p:nvPicPr>
          <p:cNvPr id="25" name="Picture 24" descr="g7.png"/>
          <p:cNvPicPr>
            <a:picLocks noChangeAspect="1"/>
          </p:cNvPicPr>
          <p:nvPr/>
        </p:nvPicPr>
        <p:blipFill>
          <a:blip r:embed="rId2"/>
          <a:srcRect t="27513" b="27513"/>
          <a:stretch>
            <a:fillRect/>
          </a:stretch>
        </p:blipFill>
        <p:spPr>
          <a:xfrm>
            <a:off x="609600" y="3683000"/>
            <a:ext cx="10972800" cy="2032000"/>
          </a:xfrm>
          <a:prstGeom prst="rect">
            <a:avLst/>
          </a:prstGeom>
          <a:ln>
            <a:noFill/>
          </a:ln>
        </p:spPr>
      </p:pic>
      <p:sp>
        <p:nvSpPr>
          <p:cNvPr id="26" name="TextBox 25"/>
          <p:cNvSpPr txBox="1"/>
          <p:nvPr/>
        </p:nvSpPr>
        <p:spPr>
          <a:xfrm>
            <a:off x="609600" y="5810250"/>
            <a:ext cx="1097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A727B"/>
                </a:solidFill>
                <a:latin typeface="Helvetica Neue"/>
                <a:ea typeface="Helvetica Neue"/>
              </a:rPr>
              <a:t>来源：乘联会；口径：批发销量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RESIDUAL / 保值率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新款三年保值率高出 12 个百分点，SUV 提升最显著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pic>
        <p:nvPicPr>
          <p:cNvPr id="9" name="Picture 8" descr="g8.png"/>
          <p:cNvPicPr>
            <a:picLocks noChangeAspect="1"/>
          </p:cNvPicPr>
          <p:nvPr/>
        </p:nvPicPr>
        <p:blipFill>
          <a:blip r:embed="rId2"/>
          <a:srcRect l="9635" r="9635"/>
          <a:stretch>
            <a:fillRect/>
          </a:stretch>
        </p:blipFill>
        <p:spPr>
          <a:xfrm>
            <a:off x="609600" y="2159000"/>
            <a:ext cx="10972800" cy="3556000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09600" y="5810250"/>
            <a:ext cx="1097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A727B"/>
                </a:solidFill>
                <a:latin typeface="Helvetica Neue"/>
                <a:ea typeface="Helvetica Neue"/>
              </a:rPr>
              <a:t>来源：中国汽车流通协会；口径：三年保值率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BRAND / 品牌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TOP3 品牌占据 61% 市场份额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pic>
        <p:nvPicPr>
          <p:cNvPr id="9" name="Picture 8" descr="g9.png"/>
          <p:cNvPicPr>
            <a:picLocks noChangeAspect="1"/>
          </p:cNvPicPr>
          <p:nvPr/>
        </p:nvPicPr>
        <p:blipFill>
          <a:blip r:embed="rId2"/>
          <a:srcRect t="20989" b="20989"/>
          <a:stretch>
            <a:fillRect/>
          </a:stretch>
        </p:blipFill>
        <p:spPr>
          <a:xfrm>
            <a:off x="609600" y="2159000"/>
            <a:ext cx="10972800" cy="3556000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09600" y="5810250"/>
            <a:ext cx="1097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A727B"/>
                </a:solidFill>
                <a:latin typeface="Helvetica Neue"/>
                <a:ea typeface="Helvetica Neue"/>
              </a:rPr>
              <a:t>来源：乘联会；口径：批发销量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REGION /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华东、华南渗透率突破 60%，区域分化加剧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159000"/>
            <a:ext cx="10972800" cy="35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5560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Helvetica Neue"/>
                <a:ea typeface="Helvetica Neue"/>
              </a:rPr>
              <a:t>各省新能源渗透率（%）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810250"/>
            <a:ext cx="1097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A727B"/>
                </a:solidFill>
                <a:latin typeface="Helvetica Neue"/>
                <a:ea typeface="Helvetica Neue"/>
              </a:rPr>
              <a:t>来源：乘联会；口径：批发销量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MIX / 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纯电占比 58%，成为绝对主力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095499"/>
            <a:ext cx="533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Helvetica Neue"/>
                <a:ea typeface="Helvetica Neue"/>
              </a:rPr>
              <a:t>MIX / 结构</a:t>
            </a:r>
          </a:p>
        </p:txBody>
      </p:sp>
      <p:pic>
        <p:nvPicPr>
          <p:cNvPr id="10" name="Picture 9" descr="g11a.png"/>
          <p:cNvPicPr>
            <a:picLocks noChangeAspect="1"/>
          </p:cNvPicPr>
          <p:nvPr/>
        </p:nvPicPr>
        <p:blipFill>
          <a:blip r:embed="rId2"/>
          <a:srcRect l="4932" r="4932"/>
          <a:stretch>
            <a:fillRect/>
          </a:stretch>
        </p:blipFill>
        <p:spPr>
          <a:xfrm>
            <a:off x="609600" y="2387600"/>
            <a:ext cx="5334000" cy="3302000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6248400" y="2095499"/>
            <a:ext cx="533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Helvetica Neue"/>
                <a:ea typeface="Helvetica Neue"/>
              </a:rPr>
              <a:t>MIX / 结构</a:t>
            </a:r>
          </a:p>
        </p:txBody>
      </p:sp>
      <p:pic>
        <p:nvPicPr>
          <p:cNvPr id="12" name="Picture 11" descr="g11b.png"/>
          <p:cNvPicPr>
            <a:picLocks noChangeAspect="1"/>
          </p:cNvPicPr>
          <p:nvPr/>
        </p:nvPicPr>
        <p:blipFill>
          <a:blip r:embed="rId3"/>
          <a:srcRect t="12577" b="12577"/>
          <a:stretch>
            <a:fillRect/>
          </a:stretch>
        </p:blipFill>
        <p:spPr>
          <a:xfrm>
            <a:off x="6248400" y="2387600"/>
            <a:ext cx="5334000" cy="3302000"/>
          </a:xfrm>
          <a:prstGeom prst="rect">
            <a:avLst/>
          </a:prstGeom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609600" y="5810250"/>
            <a:ext cx="1097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A727B"/>
                </a:solidFill>
                <a:latin typeface="Helvetica Neue"/>
                <a:ea typeface="Helvetica Neue"/>
              </a:rPr>
              <a:t>来源：乘联会；口径：批发销量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KPI / 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4 项核心 KPI 全部达成年度目标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pic>
        <p:nvPicPr>
          <p:cNvPr id="9" name="Picture 8" descr="g12.png"/>
          <p:cNvPicPr>
            <a:picLocks noChangeAspect="1"/>
          </p:cNvPicPr>
          <p:nvPr/>
        </p:nvPicPr>
        <p:blipFill>
          <a:blip r:embed="rId2"/>
          <a:srcRect t="21220" b="21220"/>
          <a:stretch>
            <a:fillRect/>
          </a:stretch>
        </p:blipFill>
        <p:spPr>
          <a:xfrm>
            <a:off x="609600" y="2159000"/>
            <a:ext cx="10972800" cy="3556000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09600" y="5810250"/>
            <a:ext cx="1097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A727B"/>
                </a:solidFill>
                <a:latin typeface="Helvetica Neue"/>
                <a:ea typeface="Helvetica Neue"/>
              </a:rPr>
              <a:t>来源：公司经营分析会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QUALITY / 质量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前 3 项客诉占总量 85%，先啃续航与充电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pic>
        <p:nvPicPr>
          <p:cNvPr id="9" name="Picture 8" descr="g13.png"/>
          <p:cNvPicPr>
            <a:picLocks noChangeAspect="1"/>
          </p:cNvPicPr>
          <p:nvPr/>
        </p:nvPicPr>
        <p:blipFill>
          <a:blip r:embed="rId2"/>
          <a:srcRect t="9079" b="9079"/>
          <a:stretch>
            <a:fillRect/>
          </a:stretch>
        </p:blipFill>
        <p:spPr>
          <a:xfrm>
            <a:off x="609600" y="2159000"/>
            <a:ext cx="10972800" cy="3556000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09600" y="5810250"/>
            <a:ext cx="1097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A727B"/>
                </a:solidFill>
                <a:latin typeface="Helvetica Neue"/>
                <a:ea typeface="Helvetica Neue"/>
              </a:rPr>
              <a:t>来源：客服中心；口径：2026Q3 客诉工单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MIX / 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纯电份额逐季提升，燃油份额跌破 30%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pic>
        <p:nvPicPr>
          <p:cNvPr id="9" name="Picture 8" descr="g14.png"/>
          <p:cNvPicPr>
            <a:picLocks noChangeAspect="1"/>
          </p:cNvPicPr>
          <p:nvPr/>
        </p:nvPicPr>
        <p:blipFill>
          <a:blip r:embed="rId2"/>
          <a:srcRect t="9171" b="9171"/>
          <a:stretch>
            <a:fillRect/>
          </a:stretch>
        </p:blipFill>
        <p:spPr>
          <a:xfrm>
            <a:off x="609600" y="2159000"/>
            <a:ext cx="10972800" cy="3556000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09600" y="5810250"/>
            <a:ext cx="1097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A727B"/>
                </a:solidFill>
                <a:latin typeface="Helvetica Neue"/>
                <a:ea typeface="Helvetica Neue"/>
              </a:rPr>
              <a:t>来源：乘联会；口径：批发销量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