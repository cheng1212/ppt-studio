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.png"/>
          <p:cNvPicPr>
            <a:picLocks noChangeAspect="1"/>
          </p:cNvPicPr>
          <p:nvPr/>
        </p:nvPicPr>
        <p:blipFill>
          <a:blip r:embed="rId2"/>
          <a:srcRect l="30155" r="30155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  <a:ln>
            <a:noFill/>
          </a:ln>
        </p:spPr>
      </p:pic>
      <p:cxnSp>
        <p:nvCxnSpPr>
          <p:cNvPr id="4" name="Connector 3"/>
          <p:cNvCxnSpPr/>
          <p:nvPr/>
        </p:nvCxnSpPr>
        <p:spPr>
          <a:xfrm>
            <a:off x="7315200" y="762000"/>
            <a:ext cx="0" cy="533400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 rot="10800000">
            <a:off x="7315200" y="6096000"/>
            <a:ext cx="0" cy="0"/>
          </a:xfrm>
          <a:prstGeom prst="triangl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2700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D4AF37"/>
                </a:solidFill>
                <a:latin typeface="思源黑体"/>
                <a:ea typeface="思源黑体"/>
              </a:rPr>
              <a:t>STARTECH · SERIES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51000"/>
            <a:ext cx="5715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5F2EA"/>
                </a:solidFill>
                <a:latin typeface="思源黑体"/>
                <a:ea typeface="思源黑体"/>
              </a:rPr>
              <a:t>A轮融资路演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83000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65A"/>
                </a:solidFill>
                <a:latin typeface="思源黑体"/>
                <a:ea typeface="思源黑体"/>
              </a:rPr>
              <a:t>STARTECH · SERIES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190999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65A"/>
                </a:solidFill>
                <a:latin typeface="思源黑体"/>
                <a:ea typeface="思源黑体"/>
              </a:rPr>
              <a:t>让增长看得见，让未来算得清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230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665A"/>
                </a:solidFill>
                <a:latin typeface="思源黑体"/>
                <a:ea typeface="思源黑体"/>
              </a:rPr>
              <a:t>2026 年 10 月 · 北京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4AF37"/>
                </a:solidFill>
                <a:latin typeface="思源黑体"/>
                <a:ea typeface="思源黑体"/>
              </a:rPr>
              <a:t>星辰科技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8578"/>
                </a:solidFill>
                <a:latin typeface="思源黑体"/>
                <a:ea typeface="思源黑体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思源黑体"/>
                <a:ea typeface="思源黑体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5F2EA"/>
                </a:solidFill>
                <a:latin typeface="思源黑体"/>
                <a:ea typeface="思源黑体"/>
              </a:rPr>
              <a:t>本轮融资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8578"/>
                </a:solidFill>
                <a:latin typeface="思源黑体"/>
                <a:ea typeface="思源黑体"/>
              </a:rPr>
              <a:t>星辰科技 · A轮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286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0" b="1">
                <a:solidFill>
                  <a:srgbClr val="D4AF37"/>
                </a:solidFill>
                <a:latin typeface="思源黑体"/>
                <a:ea typeface="思源黑体"/>
              </a:rPr>
              <a:t>5,000万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0"/>
            <a:ext cx="109728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F5F2EA"/>
                </a:solidFill>
                <a:latin typeface="思源黑体"/>
                <a:ea typeface="思源黑体"/>
              </a:rPr>
              <a:t>本轮融资目标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381500"/>
            <a:ext cx="7620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65A"/>
                </a:solidFill>
                <a:latin typeface="思源黑体"/>
                <a:ea typeface="思源黑体"/>
              </a:rPr>
              <a:t>出让 15% 股权，资金用于产品研发与市场扩张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143500"/>
            <a:ext cx="109728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思源黑体"/>
                <a:ea typeface="思源黑体"/>
              </a:rPr>
              <a:t>领投方已定，开放跟投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4AF37"/>
                </a:solidFill>
                <a:latin typeface="思源黑体"/>
                <a:ea typeface="思源黑体"/>
              </a:rPr>
              <a:t>星辰科技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8578"/>
                </a:solidFill>
                <a:latin typeface="思源黑体"/>
                <a:ea typeface="思源黑体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思源黑体"/>
                <a:ea typeface="思源黑体"/>
              </a:rPr>
              <a:t>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5F2EA"/>
                </a:solidFill>
                <a:latin typeface="思源黑体"/>
                <a:ea typeface="思源黑体"/>
              </a:rPr>
              <a:t>核心亮点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8578"/>
                </a:solidFill>
                <a:latin typeface="思源黑体"/>
                <a:ea typeface="思源黑体"/>
              </a:rPr>
              <a:t>星辰科技 · A轮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286000"/>
            <a:ext cx="3505200" cy="2667000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3175000"/>
            <a:ext cx="320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5F2EA"/>
                </a:solidFill>
                <a:latin typeface="思源黑体"/>
                <a:ea typeface="思源黑体"/>
              </a:rPr>
              <a:t>128%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10000"/>
            <a:ext cx="320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思源黑体"/>
                <a:ea typeface="思源黑体"/>
              </a:rPr>
              <a:t>营收增速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27500"/>
            <a:ext cx="32004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665A"/>
                </a:solidFill>
                <a:latin typeface="思源黑体"/>
                <a:ea typeface="思源黑体"/>
              </a:rPr>
              <a:t>连续 8 个季度三位数增长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200" y="2286000"/>
            <a:ext cx="3505200" cy="2667000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9600" y="3175000"/>
            <a:ext cx="320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5F2EA"/>
                </a:solidFill>
                <a:latin typeface="思源黑体"/>
                <a:ea typeface="思源黑体"/>
              </a:rPr>
              <a:t>500万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0" y="3810000"/>
            <a:ext cx="320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思源黑体"/>
                <a:ea typeface="思源黑体"/>
              </a:rPr>
              <a:t>注册用户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4127500"/>
            <a:ext cx="32004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665A"/>
                </a:solidFill>
                <a:latin typeface="思源黑体"/>
                <a:ea typeface="思源黑体"/>
              </a:rPr>
              <a:t>月活 120 万，留存 68%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4799" y="2286000"/>
            <a:ext cx="3505200" cy="2667000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0" y="3175000"/>
            <a:ext cx="320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5F2EA"/>
                </a:solidFill>
                <a:latin typeface="思源黑体"/>
                <a:ea typeface="思源黑体"/>
              </a:rPr>
              <a:t>Top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3810000"/>
            <a:ext cx="320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思源黑体"/>
                <a:ea typeface="思源黑体"/>
              </a:rPr>
              <a:t>行业排名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7200" y="4127500"/>
            <a:ext cx="32004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665A"/>
                </a:solidFill>
                <a:latin typeface="思源黑体"/>
                <a:ea typeface="思源黑体"/>
              </a:rPr>
              <a:t>细分赛道市占率前三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5207000"/>
            <a:ext cx="10972800" cy="698500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5207000"/>
            <a:ext cx="50800" cy="6985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5207000"/>
            <a:ext cx="105918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5F2EA"/>
                </a:solidFill>
                <a:latin typeface="思源黑体"/>
                <a:ea typeface="思源黑体"/>
              </a:rPr>
              <a:t>增长、规模、地位三维度全面领先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4AF37"/>
                </a:solidFill>
                <a:latin typeface="思源黑体"/>
                <a:ea typeface="思源黑体"/>
              </a:rPr>
              <a:t>星辰科技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8578"/>
                </a:solidFill>
                <a:latin typeface="思源黑体"/>
                <a:ea typeface="思源黑体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思源黑体"/>
                <a:ea typeface="思源黑体"/>
              </a:rPr>
              <a:t>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5F2EA"/>
                </a:solidFill>
                <a:latin typeface="思源黑体"/>
                <a:ea typeface="思源黑体"/>
              </a:rPr>
              <a:t>渠道收入对比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8578"/>
                </a:solidFill>
                <a:latin typeface="思源黑体"/>
                <a:ea typeface="思源黑体"/>
              </a:rPr>
              <a:t>星辰科技 · A轮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55000" y="2209800"/>
            <a:ext cx="228600" cy="127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400" y="2159000"/>
            <a:ext cx="12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5F2EA"/>
                </a:solidFill>
                <a:latin typeface="思源黑体"/>
                <a:ea typeface="思源黑体"/>
              </a:rPr>
              <a:t>今年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0" y="2209800"/>
            <a:ext cx="228600" cy="12700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85400" y="2159000"/>
            <a:ext cx="127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5F2EA"/>
                </a:solidFill>
                <a:latin typeface="思源黑体"/>
                <a:ea typeface="思源黑体"/>
              </a:rPr>
              <a:t>去年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667000"/>
            <a:ext cx="1574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65A"/>
                </a:solidFill>
                <a:latin typeface="思源黑体"/>
                <a:ea typeface="思源黑体"/>
              </a:rPr>
              <a:t>线上直销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87600" y="2540000"/>
            <a:ext cx="7874000" cy="2413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76500" y="2540000"/>
            <a:ext cx="19050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思源黑体"/>
                <a:ea typeface="思源黑体"/>
              </a:rPr>
              <a:t>3200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87600" y="2844800"/>
            <a:ext cx="4429125" cy="24130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76500" y="2844800"/>
            <a:ext cx="19050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5F2EA"/>
                </a:solidFill>
                <a:latin typeface="思源黑体"/>
                <a:ea typeface="思源黑体"/>
              </a:rPr>
              <a:t>1800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619500"/>
            <a:ext cx="1574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65A"/>
                </a:solidFill>
                <a:latin typeface="思源黑体"/>
                <a:ea typeface="思源黑体"/>
              </a:rPr>
              <a:t>渠道代理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87600" y="3492500"/>
            <a:ext cx="5167312" cy="2413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76500" y="3492500"/>
            <a:ext cx="19050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思源黑体"/>
                <a:ea typeface="思源黑体"/>
              </a:rPr>
              <a:t>2100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87600" y="3797300"/>
            <a:ext cx="5905500" cy="24130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76500" y="3797300"/>
            <a:ext cx="19050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5F2EA"/>
                </a:solidFill>
                <a:latin typeface="思源黑体"/>
                <a:ea typeface="思源黑体"/>
              </a:rPr>
              <a:t>2400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572000"/>
            <a:ext cx="1574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65A"/>
                </a:solidFill>
                <a:latin typeface="思源黑体"/>
                <a:ea typeface="思源黑体"/>
              </a:rPr>
              <a:t>出海业务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87600" y="4445000"/>
            <a:ext cx="3690937" cy="2413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76500" y="4445000"/>
            <a:ext cx="19050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思源黑体"/>
                <a:ea typeface="思源黑体"/>
              </a:rPr>
              <a:t>1500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87600" y="4749800"/>
            <a:ext cx="984250" cy="24130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76500" y="4749800"/>
            <a:ext cx="19050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5F2EA"/>
                </a:solidFill>
                <a:latin typeface="思源黑体"/>
                <a:ea typeface="思源黑体"/>
              </a:rPr>
              <a:t>400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5588000"/>
            <a:ext cx="10972800" cy="698500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5588000"/>
            <a:ext cx="50800" cy="6985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200" y="5588000"/>
            <a:ext cx="105918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5F2EA"/>
                </a:solidFill>
                <a:latin typeface="思源黑体"/>
                <a:ea typeface="思源黑体"/>
              </a:rPr>
              <a:t>线上与出海成为新增长极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4AF37"/>
                </a:solidFill>
                <a:latin typeface="思源黑体"/>
                <a:ea typeface="思源黑体"/>
              </a:rPr>
              <a:t>星辰科技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8578"/>
                </a:solidFill>
                <a:latin typeface="思源黑体"/>
                <a:ea typeface="思源黑体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4AF37"/>
                </a:solidFill>
                <a:latin typeface="思源黑体"/>
                <a:ea typeface="思源黑体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5F2EA"/>
                </a:solidFill>
                <a:latin typeface="思源黑体"/>
                <a:ea typeface="思源黑体"/>
              </a:rPr>
              <a:t>资金使用规划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8578"/>
                </a:solidFill>
                <a:latin typeface="思源黑体"/>
                <a:ea typeface="思源黑体"/>
              </a:rPr>
              <a:t>星辰科技 · A轮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2349500"/>
            <a:ext cx="2540000" cy="2540000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6800" y="2654300"/>
            <a:ext cx="546100" cy="3556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C0C0E"/>
                </a:solidFill>
                <a:latin typeface="思源黑体"/>
                <a:ea typeface="思源黑体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213100"/>
            <a:ext cx="193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5F2EA"/>
                </a:solidFill>
                <a:latin typeface="思源黑体"/>
                <a:ea typeface="思源黑体"/>
              </a:rPr>
              <a:t>产品研发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784600"/>
            <a:ext cx="19304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65A"/>
                </a:solidFill>
                <a:latin typeface="思源黑体"/>
                <a:ea typeface="思源黑体"/>
              </a:rPr>
              <a:t>40% · 核心引擎迭代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83000" y="2349500"/>
            <a:ext cx="2540000" cy="2540000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87799" y="2654300"/>
            <a:ext cx="546100" cy="3556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C0C0E"/>
                </a:solidFill>
                <a:latin typeface="思源黑体"/>
                <a:ea typeface="思源黑体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7799" y="3213100"/>
            <a:ext cx="193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5F2EA"/>
                </a:solidFill>
                <a:latin typeface="思源黑体"/>
                <a:ea typeface="思源黑体"/>
              </a:rPr>
              <a:t>市场扩张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7799" y="3784600"/>
            <a:ext cx="19304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65A"/>
                </a:solidFill>
                <a:latin typeface="思源黑体"/>
                <a:ea typeface="思源黑体"/>
              </a:rPr>
              <a:t>35% · 3 个新城市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4000" y="2349500"/>
            <a:ext cx="2540000" cy="2540000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8800" y="2654300"/>
            <a:ext cx="546100" cy="3556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C0C0E"/>
                </a:solidFill>
                <a:latin typeface="思源黑体"/>
                <a:ea typeface="思源黑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8800" y="3213100"/>
            <a:ext cx="193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5F2EA"/>
                </a:solidFill>
                <a:latin typeface="思源黑体"/>
                <a:ea typeface="思源黑体"/>
              </a:rPr>
              <a:t>团队建设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8800" y="3784600"/>
            <a:ext cx="19304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65A"/>
                </a:solidFill>
                <a:latin typeface="思源黑体"/>
                <a:ea typeface="思源黑体"/>
              </a:rPr>
              <a:t>15% · 翻倍至 200 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25000" y="2349500"/>
            <a:ext cx="2540000" cy="2540000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29800" y="2654300"/>
            <a:ext cx="546100" cy="3556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C0C0E"/>
                </a:solidFill>
                <a:latin typeface="思源黑体"/>
                <a:ea typeface="思源黑体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213100"/>
            <a:ext cx="193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5F2EA"/>
                </a:solidFill>
                <a:latin typeface="思源黑体"/>
                <a:ea typeface="思源黑体"/>
              </a:rPr>
              <a:t>战略储备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784600"/>
            <a:ext cx="19304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65A"/>
                </a:solidFill>
                <a:latin typeface="思源黑体"/>
                <a:ea typeface="思源黑体"/>
              </a:rPr>
              <a:t>10% · 风险备用金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5461000"/>
            <a:ext cx="10668000" cy="698500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2000" y="5461000"/>
            <a:ext cx="50800" cy="6985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599" y="5461000"/>
            <a:ext cx="10287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5F2EA"/>
                </a:solidFill>
                <a:latin typeface="思源黑体"/>
                <a:ea typeface="思源黑体"/>
              </a:rPr>
              <a:t>18 个月达到盈亏平衡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