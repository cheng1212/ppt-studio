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-cover-P1-封面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500" y="2159000"/>
            <a:ext cx="5715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C5C9C6"/>
                </a:solidFill>
                <a:latin typeface="思源黑体"/>
                <a:ea typeface="思源黑体"/>
              </a:rPr>
              <a:t>Sodium &amp; Its Compounds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5500" y="2755900"/>
            <a:ext cx="762000" cy="38100"/>
          </a:xfrm>
          <a:prstGeom prst="rect">
            <a:avLst/>
          </a:prstGeom>
          <a:solidFill>
            <a:srgbClr val="B982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5500" y="3073400"/>
            <a:ext cx="5715000" cy="177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5900" b="1">
                <a:solidFill>
                  <a:srgbClr val="252C2B"/>
                </a:solidFill>
                <a:latin typeface="思源黑体"/>
                <a:ea typeface="思源黑体"/>
              </a:rPr>
              <a:t>钠及其化合物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4914900"/>
            <a:ext cx="5715000" cy="44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50" b="0">
                <a:solidFill>
                  <a:srgbClr val="B98215"/>
                </a:solidFill>
                <a:latin typeface="思源黑体"/>
                <a:ea typeface="思源黑体"/>
              </a:rPr>
              <a:t>SODIUM · 活性之源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5422900"/>
            <a:ext cx="5715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>
                <a:solidFill>
                  <a:srgbClr val="C5C9C6"/>
                </a:solidFill>
                <a:latin typeface="思源黑体"/>
                <a:ea typeface="思源黑体"/>
              </a:rPr>
              <a:t>从活泼金属到多彩化合物 · 探索钠元素的化学世界</a:t>
            </a:r>
          </a:p>
        </p:txBody>
      </p:sp>
      <p:sp>
        <p:nvSpPr>
          <p:cNvPr id="8" name="Rectangle 7"/>
          <p:cNvSpPr/>
          <p:nvPr/>
        </p:nvSpPr>
        <p:spPr>
          <a:xfrm>
            <a:off x="825500" y="6184900"/>
            <a:ext cx="355600" cy="19050"/>
          </a:xfrm>
          <a:prstGeom prst="rect">
            <a:avLst/>
          </a:prstGeom>
          <a:solidFill>
            <a:srgbClr val="B982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0800" y="6083300"/>
            <a:ext cx="4445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C5C9C6"/>
                </a:solidFill>
                <a:latin typeface="思源黑体"/>
                <a:ea typeface="思源黑体"/>
              </a:rPr>
              <a:t>高中化学 · 元素化合物专题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61500" y="6083300"/>
            <a:ext cx="1905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D8B85B"/>
                </a:solidFill>
                <a:latin typeface="思源黑体"/>
                <a:ea typeface="思源黑体"/>
              </a:rPr>
              <a:t>Na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406400"/>
            <a:ext cx="5080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526D61"/>
                </a:solidFill>
                <a:latin typeface="思源黑体"/>
                <a:ea typeface="思源黑体"/>
              </a:rPr>
              <a:t>Chemistry · Chapter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90000" y="406400"/>
            <a:ext cx="2540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C5C9C6"/>
                </a:solidFill>
                <a:latin typeface="思源黑体"/>
                <a:ea typeface="思源黑体"/>
              </a:rPr>
              <a:t>02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89000"/>
            <a:ext cx="1066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762000" y="1130300"/>
            <a:ext cx="10668000" cy="82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252C2B"/>
                </a:solidFill>
                <a:latin typeface="思源黑体"/>
                <a:ea typeface="思源黑体"/>
              </a:rPr>
              <a:t>学习导航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6388100"/>
            <a:ext cx="10668000" cy="12700"/>
          </a:xfrm>
          <a:prstGeom prst="rect">
            <a:avLst/>
          </a:prstGeom>
          <a:solidFill>
            <a:srgbClr val="DD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6426200"/>
            <a:ext cx="1066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C5C9C6"/>
                </a:solidFill>
                <a:latin typeface="思源黑体"/>
                <a:ea typeface="思源黑体"/>
              </a:rPr>
              <a:t>五个学习任务 · 一条「性质—转化—应用」主线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1905000"/>
            <a:ext cx="10668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>
                <a:solidFill>
                  <a:srgbClr val="8A938F"/>
                </a:solidFill>
                <a:latin typeface="思源黑体"/>
                <a:ea typeface="思源黑体"/>
              </a:rPr>
              <a:t>从认识钠元素，到掌握化合物的性质与应用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2184400"/>
            <a:ext cx="106680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B98215"/>
                </a:solidFill>
                <a:latin typeface="思源黑体"/>
                <a:ea typeface="思源黑体"/>
              </a:rPr>
              <a:t>Sodium &amp; Its Compounds · Learning Path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2476500"/>
            <a:ext cx="5251450" cy="18224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na-cube.png"/>
          <p:cNvPicPr>
            <a:picLocks noChangeAspect="1"/>
          </p:cNvPicPr>
          <p:nvPr/>
        </p:nvPicPr>
        <p:blipFill>
          <a:blip r:embed="rId2"/>
          <a:srcRect l="10610" r="10610"/>
          <a:stretch>
            <a:fillRect/>
          </a:stretch>
        </p:blipFill>
        <p:spPr>
          <a:xfrm>
            <a:off x="762000" y="2476500"/>
            <a:ext cx="1905000" cy="1822450"/>
          </a:xfrm>
          <a:prstGeom prst="rect">
            <a:avLst/>
          </a:prstGeom>
          <a:ln>
            <a:noFill/>
          </a:ln>
        </p:spPr>
      </p:pic>
      <p:sp>
        <p:nvSpPr>
          <p:cNvPr id="13" name="TextBox 12"/>
          <p:cNvSpPr txBox="1"/>
          <p:nvPr/>
        </p:nvSpPr>
        <p:spPr>
          <a:xfrm>
            <a:off x="2882900" y="2730500"/>
            <a:ext cx="29210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B98215"/>
                </a:solidFill>
                <a:latin typeface="思源黑体"/>
                <a:ea typeface="思源黑体"/>
              </a:rPr>
              <a:t>01 / DISCOVER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2900" y="2959100"/>
            <a:ext cx="2921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526D61"/>
                </a:solidFill>
                <a:latin typeface="思源黑体"/>
                <a:ea typeface="思源黑体"/>
              </a:rPr>
              <a:t>认识金属钠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2900" y="3314700"/>
            <a:ext cx="2921000" cy="82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8A938F"/>
                </a:solidFill>
                <a:latin typeface="思源黑体"/>
                <a:ea typeface="思源黑体"/>
              </a:rPr>
              <a:t>物理性质 · 原子结构 · 保存方法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8550" y="2476500"/>
            <a:ext cx="5251450" cy="18224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na-flame.png"/>
          <p:cNvPicPr>
            <a:picLocks noChangeAspect="1"/>
          </p:cNvPicPr>
          <p:nvPr/>
        </p:nvPicPr>
        <p:blipFill>
          <a:blip r:embed="rId3"/>
          <a:srcRect t="2167" b="2167"/>
          <a:stretch>
            <a:fillRect/>
          </a:stretch>
        </p:blipFill>
        <p:spPr>
          <a:xfrm>
            <a:off x="6178550" y="2476500"/>
            <a:ext cx="1905000" cy="1822450"/>
          </a:xfrm>
          <a:prstGeom prst="rect">
            <a:avLst/>
          </a:prstGeom>
          <a:ln>
            <a:noFill/>
          </a:ln>
        </p:spPr>
      </p:pic>
      <p:sp>
        <p:nvSpPr>
          <p:cNvPr id="18" name="TextBox 17"/>
          <p:cNvSpPr txBox="1"/>
          <p:nvPr/>
        </p:nvSpPr>
        <p:spPr>
          <a:xfrm>
            <a:off x="8299450" y="2730500"/>
            <a:ext cx="29210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B98215"/>
                </a:solidFill>
                <a:latin typeface="思源黑体"/>
                <a:ea typeface="思源黑体"/>
              </a:rPr>
              <a:t>02 / EXPLORE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9450" y="2959100"/>
            <a:ext cx="2921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526D61"/>
                </a:solidFill>
                <a:latin typeface="思源黑体"/>
                <a:ea typeface="思源黑体"/>
              </a:rPr>
              <a:t>钠的化学性质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9450" y="3314700"/>
            <a:ext cx="2921000" cy="82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8A938F"/>
                </a:solidFill>
                <a:latin typeface="思源黑体"/>
                <a:ea typeface="思源黑体"/>
              </a:rPr>
              <a:t>与氧气反应 · 与水反应 · 还原性本质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2000" y="4464050"/>
            <a:ext cx="5251450" cy="18224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na-compound.png"/>
          <p:cNvPicPr>
            <a:picLocks noChangeAspect="1"/>
          </p:cNvPicPr>
          <p:nvPr/>
        </p:nvPicPr>
        <p:blipFill>
          <a:blip r:embed="rId4"/>
          <a:srcRect t="2167" b="2167"/>
          <a:stretch>
            <a:fillRect/>
          </a:stretch>
        </p:blipFill>
        <p:spPr>
          <a:xfrm>
            <a:off x="762000" y="4464050"/>
            <a:ext cx="1905000" cy="1822450"/>
          </a:xfrm>
          <a:prstGeom prst="rect">
            <a:avLst/>
          </a:prstGeom>
          <a:ln>
            <a:noFill/>
          </a:ln>
        </p:spPr>
      </p:pic>
      <p:sp>
        <p:nvSpPr>
          <p:cNvPr id="23" name="TextBox 22"/>
          <p:cNvSpPr txBox="1"/>
          <p:nvPr/>
        </p:nvSpPr>
        <p:spPr>
          <a:xfrm>
            <a:off x="2882900" y="4718050"/>
            <a:ext cx="29210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B98215"/>
                </a:solidFill>
                <a:latin typeface="思源黑体"/>
                <a:ea typeface="思源黑体"/>
              </a:rPr>
              <a:t>03 / ANALYZE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2900" y="4946650"/>
            <a:ext cx="2921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526D61"/>
                </a:solidFill>
                <a:latin typeface="思源黑体"/>
                <a:ea typeface="思源黑体"/>
              </a:rPr>
              <a:t>钠的重要化合物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82900" y="5302250"/>
            <a:ext cx="2921000" cy="82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8A938F"/>
                </a:solidFill>
                <a:latin typeface="思源黑体"/>
                <a:ea typeface="思源黑体"/>
              </a:rPr>
              <a:t>氧化钠 · 过氧化钠 · 碳酸钠 · 碳酸氢钠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8550" y="4464050"/>
            <a:ext cx="5251450" cy="18224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cover-bg2.png"/>
          <p:cNvPicPr>
            <a:picLocks noChangeAspect="1"/>
          </p:cNvPicPr>
          <p:nvPr/>
        </p:nvPicPr>
        <p:blipFill>
          <a:blip r:embed="rId5"/>
          <a:srcRect l="20601" r="20601"/>
          <a:stretch>
            <a:fillRect/>
          </a:stretch>
        </p:blipFill>
        <p:spPr>
          <a:xfrm>
            <a:off x="6178550" y="4464050"/>
            <a:ext cx="1905000" cy="1822450"/>
          </a:xfrm>
          <a:prstGeom prst="rect">
            <a:avLst/>
          </a:prstGeom>
          <a:ln>
            <a:noFill/>
          </a:ln>
        </p:spPr>
      </p:pic>
      <p:sp>
        <p:nvSpPr>
          <p:cNvPr id="28" name="TextBox 27"/>
          <p:cNvSpPr txBox="1"/>
          <p:nvPr/>
        </p:nvSpPr>
        <p:spPr>
          <a:xfrm>
            <a:off x="8299450" y="4718050"/>
            <a:ext cx="29210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B98215"/>
                </a:solidFill>
                <a:latin typeface="思源黑体"/>
                <a:ea typeface="思源黑体"/>
              </a:rPr>
              <a:t>04 / APPLY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99450" y="4946650"/>
            <a:ext cx="2921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526D61"/>
                </a:solidFill>
                <a:latin typeface="思源黑体"/>
                <a:ea typeface="思源黑体"/>
              </a:rPr>
              <a:t>实验与应用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99450" y="5302250"/>
            <a:ext cx="2921000" cy="82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8A938F"/>
                </a:solidFill>
                <a:latin typeface="思源黑体"/>
                <a:ea typeface="思源黑体"/>
              </a:rPr>
              <a:t>焰色反应 · 物质转化 · 典型例题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52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0" y="381000"/>
            <a:ext cx="50800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0" b="0">
                <a:solidFill>
                  <a:srgbClr val="403B27"/>
                </a:solidFill>
                <a:latin typeface="思源黑体"/>
                <a:ea typeface="思源黑体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667000"/>
            <a:ext cx="5715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B98215"/>
                </a:solidFill>
                <a:latin typeface="思源黑体"/>
                <a:ea typeface="思源黑体"/>
              </a:rPr>
              <a:t>Task One · Discover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3111500"/>
            <a:ext cx="762000" cy="38100"/>
          </a:xfrm>
          <a:prstGeom prst="rect">
            <a:avLst/>
          </a:prstGeom>
          <a:solidFill>
            <a:srgbClr val="B982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3365500"/>
            <a:ext cx="66675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900" b="1">
                <a:solidFill>
                  <a:srgbClr val="252C2B"/>
                </a:solidFill>
                <a:latin typeface="思源黑体"/>
                <a:ea typeface="思源黑体"/>
              </a:rPr>
              <a:t>认识金属钠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5588000"/>
            <a:ext cx="5715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>
                <a:solidFill>
                  <a:srgbClr val="C5C9C6"/>
                </a:solidFill>
                <a:latin typeface="思源黑体"/>
                <a:ea typeface="思源黑体"/>
              </a:rPr>
              <a:t>它为什么软得能用小刀切开，</a:t>
            </a:r>
            <a:r>
              <a:rPr sz="1700" b="0">
                <a:solidFill>
                  <a:srgbClr val="C5C9C6"/>
                </a:solidFill>
                <a:latin typeface="思源黑体"/>
                <a:ea typeface="思源黑体"/>
              </a:rPr>
              <a:t>又为什么必须住在煤油里？</a:t>
            </a:r>
          </a:p>
        </p:txBody>
      </p:sp>
      <p:sp>
        <p:nvSpPr>
          <p:cNvPr id="8" name="Rectangle 7"/>
          <p:cNvSpPr/>
          <p:nvPr/>
        </p:nvSpPr>
        <p:spPr>
          <a:xfrm>
            <a:off x="762000" y="6184900"/>
            <a:ext cx="355600" cy="19050"/>
          </a:xfrm>
          <a:prstGeom prst="rect">
            <a:avLst/>
          </a:prstGeom>
          <a:solidFill>
            <a:srgbClr val="B982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57300" y="6083300"/>
            <a:ext cx="4445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C5C9C6"/>
                </a:solidFill>
                <a:latin typeface="思源黑体"/>
                <a:ea typeface="思源黑体"/>
              </a:rPr>
              <a:t>物理性质 · 原子结构 · 保存方法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406400"/>
            <a:ext cx="2540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C5C9C6"/>
                </a:solidFill>
                <a:latin typeface="思源黑体"/>
                <a:ea typeface="思源黑体"/>
              </a:rPr>
              <a:t>03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406400"/>
            <a:ext cx="5080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526D61"/>
                </a:solidFill>
                <a:latin typeface="思源黑体"/>
                <a:ea typeface="思源黑体"/>
              </a:rPr>
              <a:t>01 · Discover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90000" y="406400"/>
            <a:ext cx="2540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C5C9C6"/>
                </a:solidFill>
                <a:latin typeface="思源黑体"/>
                <a:ea typeface="思源黑体"/>
              </a:rPr>
              <a:t>04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89000"/>
            <a:ext cx="1066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B98215"/>
                </a:solidFill>
                <a:latin typeface="思源黑体"/>
                <a:ea typeface="思源黑体"/>
              </a:rPr>
              <a:t>PHYSICAL PROPERTIES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30300"/>
            <a:ext cx="10668000" cy="82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252C2B"/>
                </a:solidFill>
                <a:latin typeface="思源黑体"/>
                <a:ea typeface="思源黑体"/>
              </a:rPr>
              <a:t>钠是种「软」金属，</a:t>
            </a:r>
            <a:r>
              <a:rPr sz="3200" b="1">
                <a:solidFill>
                  <a:srgbClr val="526D61"/>
                </a:solidFill>
                <a:latin typeface="思源黑体"/>
                <a:ea typeface="思源黑体"/>
              </a:rPr>
              <a:t>脾气却很急</a:t>
            </a:r>
          </a:p>
        </p:txBody>
      </p:sp>
      <p:pic>
        <p:nvPicPr>
          <p:cNvPr id="7" name="Picture 6" descr="na-cut.png"/>
          <p:cNvPicPr>
            <a:picLocks noChangeAspect="1"/>
          </p:cNvPicPr>
          <p:nvPr/>
        </p:nvPicPr>
        <p:blipFill>
          <a:blip r:embed="rId2"/>
          <a:srcRect t="10000" b="10000"/>
          <a:stretch>
            <a:fillRect/>
          </a:stretch>
        </p:blipFill>
        <p:spPr>
          <a:xfrm>
            <a:off x="762000" y="2095499"/>
            <a:ext cx="4445000" cy="3556000"/>
          </a:xfrm>
          <a:prstGeom prst="rect">
            <a:avLst/>
          </a:prstGeom>
          <a:ln>
            <a:noFill/>
          </a:ln>
        </p:spPr>
      </p:pic>
      <p:sp>
        <p:nvSpPr>
          <p:cNvPr id="8" name="Rectangle 7"/>
          <p:cNvSpPr/>
          <p:nvPr/>
        </p:nvSpPr>
        <p:spPr>
          <a:xfrm>
            <a:off x="889000" y="2222500"/>
            <a:ext cx="3022600" cy="355600"/>
          </a:xfrm>
          <a:prstGeom prst="rect">
            <a:avLst/>
          </a:prstGeom>
          <a:solidFill>
            <a:srgbClr val="252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252C2B"/>
                </a:solidFill>
                <a:latin typeface="思源黑体"/>
                <a:ea typeface="思源黑体"/>
              </a:rPr>
              <a:t>新切面 </a:t>
            </a:r>
            <a:r>
              <a:rPr sz="1100" b="1">
                <a:solidFill>
                  <a:srgbClr val="B98215"/>
                </a:solidFill>
                <a:latin typeface="思源黑体"/>
                <a:ea typeface="思源黑体"/>
              </a:rPr>
              <a:t>银白</a:t>
            </a:r>
            <a:r>
              <a:rPr sz="1100" b="0">
                <a:solidFill>
                  <a:srgbClr val="252C2B"/>
                </a:solidFill>
                <a:latin typeface="思源黑体"/>
                <a:ea typeface="思源黑体"/>
              </a:rPr>
              <a:t> · 数秒内变暗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5715000"/>
            <a:ext cx="4445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8A938F"/>
                </a:solidFill>
                <a:latin typeface="思源黑体"/>
                <a:ea typeface="思源黑体"/>
              </a:rPr>
              <a:t>小刀可切——正在被切开的金属钠（教学演示）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15000" y="2095499"/>
            <a:ext cx="736600" cy="355600"/>
          </a:xfrm>
          <a:prstGeom prst="rect">
            <a:avLst/>
          </a:prstGeom>
          <a:solidFill>
            <a:srgbClr val="252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5F3ED"/>
                </a:solidFill>
                <a:latin typeface="思源黑体"/>
                <a:ea typeface="思源黑体"/>
              </a:rPr>
              <a:t>颜色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42100" y="2044700"/>
            <a:ext cx="47879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50" b="1">
                <a:solidFill>
                  <a:srgbClr val="252C2B"/>
                </a:solidFill>
                <a:latin typeface="思源黑体"/>
                <a:ea typeface="思源黑体"/>
              </a:rPr>
              <a:t>银白色金属光泽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42100" y="2489200"/>
            <a:ext cx="47879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>
                <a:solidFill>
                  <a:srgbClr val="8A938F"/>
                </a:solidFill>
                <a:latin typeface="思源黑体"/>
                <a:ea typeface="思源黑体"/>
              </a:rPr>
              <a:t>新切面明亮如镜；久置表面迅速变暗——被氧气氧化的第一证据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15000" y="3048000"/>
            <a:ext cx="5715000" cy="12700"/>
          </a:xfrm>
          <a:prstGeom prst="rect">
            <a:avLst/>
          </a:prstGeom>
          <a:solidFill>
            <a:srgbClr val="DD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715000" y="3187700"/>
            <a:ext cx="736600" cy="355600"/>
          </a:xfrm>
          <a:prstGeom prst="rect">
            <a:avLst/>
          </a:prstGeom>
          <a:solidFill>
            <a:srgbClr val="526D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5F3ED"/>
                </a:solidFill>
                <a:latin typeface="思源黑体"/>
                <a:ea typeface="思源黑体"/>
              </a:rPr>
              <a:t>硬度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2100" y="3136900"/>
            <a:ext cx="47879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50" b="1">
                <a:solidFill>
                  <a:srgbClr val="252C2B"/>
                </a:solidFill>
                <a:latin typeface="思源黑体"/>
                <a:ea typeface="思源黑体"/>
              </a:rPr>
              <a:t>质软如蜡，</a:t>
            </a:r>
            <a:r>
              <a:rPr sz="2250" b="1">
                <a:solidFill>
                  <a:srgbClr val="526D61"/>
                </a:solidFill>
                <a:latin typeface="思源黑体"/>
                <a:ea typeface="思源黑体"/>
              </a:rPr>
              <a:t>小刀可切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2100" y="3581400"/>
            <a:ext cx="47879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>
                <a:solidFill>
                  <a:srgbClr val="8A938F"/>
                </a:solidFill>
                <a:latin typeface="思源黑体"/>
                <a:ea typeface="思源黑体"/>
              </a:rPr>
              <a:t>金属键弱——「软」是它活泼的第一个线索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15000" y="4140200"/>
            <a:ext cx="5715000" cy="12700"/>
          </a:xfrm>
          <a:prstGeom prst="rect">
            <a:avLst/>
          </a:prstGeom>
          <a:solidFill>
            <a:srgbClr val="DD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15000" y="4279900"/>
            <a:ext cx="736600" cy="355600"/>
          </a:xfrm>
          <a:prstGeom prst="rect">
            <a:avLst/>
          </a:prstGeom>
          <a:solidFill>
            <a:srgbClr val="526D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5F3ED"/>
                </a:solidFill>
                <a:latin typeface="思源黑体"/>
                <a:ea typeface="思源黑体"/>
              </a:rPr>
              <a:t>密度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42100" y="4229100"/>
            <a:ext cx="47879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50" b="1">
                <a:solidFill>
                  <a:srgbClr val="252C2B"/>
                </a:solidFill>
                <a:latin typeface="思源黑体"/>
                <a:ea typeface="思源黑体"/>
              </a:rPr>
              <a:t>0.97 g/cm³，</a:t>
            </a:r>
            <a:r>
              <a:rPr sz="2250" b="1">
                <a:solidFill>
                  <a:srgbClr val="526D61"/>
                </a:solidFill>
                <a:latin typeface="思源黑体"/>
                <a:ea typeface="思源黑体"/>
              </a:rPr>
              <a:t>比水轻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2100" y="4673600"/>
            <a:ext cx="47879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>
                <a:solidFill>
                  <a:srgbClr val="8A938F"/>
                </a:solidFill>
                <a:latin typeface="思源黑体"/>
                <a:ea typeface="思源黑体"/>
              </a:rPr>
              <a:t>比煤油重（约 0.8）沉底、比水轻上浮——「浮、熔、游、响、红」的起点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15000" y="5232400"/>
            <a:ext cx="5715000" cy="12700"/>
          </a:xfrm>
          <a:prstGeom prst="rect">
            <a:avLst/>
          </a:prstGeom>
          <a:solidFill>
            <a:srgbClr val="DD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715000" y="5372100"/>
            <a:ext cx="736600" cy="355600"/>
          </a:xfrm>
          <a:prstGeom prst="rect">
            <a:avLst/>
          </a:prstGeom>
          <a:solidFill>
            <a:srgbClr val="252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5F3ED"/>
                </a:solidFill>
                <a:latin typeface="思源黑体"/>
                <a:ea typeface="思源黑体"/>
              </a:rPr>
              <a:t>熔点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42100" y="5321300"/>
            <a:ext cx="47879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50" b="1">
                <a:solidFill>
                  <a:srgbClr val="252C2B"/>
                </a:solidFill>
                <a:latin typeface="思源黑体"/>
                <a:ea typeface="思源黑体"/>
              </a:rPr>
              <a:t>97.8 ℃，</a:t>
            </a:r>
            <a:r>
              <a:rPr sz="2250" b="1">
                <a:solidFill>
                  <a:srgbClr val="526D61"/>
                </a:solidFill>
                <a:latin typeface="思源黑体"/>
                <a:ea typeface="思源黑体"/>
              </a:rPr>
              <a:t>熔点低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2100" y="5765800"/>
            <a:ext cx="47879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>
                <a:solidFill>
                  <a:srgbClr val="8A938F"/>
                </a:solidFill>
                <a:latin typeface="思源黑体"/>
                <a:ea typeface="思源黑体"/>
              </a:rPr>
              <a:t>与水反应放出的热就足以把它熔成闪亮小球；能导电导热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15000" y="6324600"/>
            <a:ext cx="5715000" cy="12700"/>
          </a:xfrm>
          <a:prstGeom prst="rect">
            <a:avLst/>
          </a:prstGeom>
          <a:solidFill>
            <a:srgbClr val="DD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715000" y="6527800"/>
            <a:ext cx="5715000" cy="698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715000" y="6527800"/>
            <a:ext cx="50800" cy="698500"/>
          </a:xfrm>
          <a:prstGeom prst="rect">
            <a:avLst/>
          </a:prstGeom>
          <a:solidFill>
            <a:srgbClr val="B982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0" y="6527800"/>
            <a:ext cx="5334000" cy="698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252C2B"/>
                </a:solidFill>
                <a:latin typeface="思源黑体"/>
                <a:ea typeface="思源黑体"/>
              </a:rPr>
              <a:t>四条性质互相印证：</a:t>
            </a:r>
            <a:r>
              <a:rPr sz="1100" b="1">
                <a:solidFill>
                  <a:srgbClr val="B98215"/>
                </a:solidFill>
                <a:latin typeface="思源黑体"/>
                <a:ea typeface="思源黑体"/>
              </a:rPr>
              <a:t>软、轻、低熔点</a:t>
            </a:r>
            <a:r>
              <a:rPr sz="1100" b="0">
                <a:solidFill>
                  <a:srgbClr val="252C2B"/>
                </a:solidFill>
                <a:latin typeface="思源黑体"/>
                <a:ea typeface="思源黑体"/>
              </a:rPr>
              <a:t>——都指向「金属键弱、极易反应」同一个结论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2000" y="6388100"/>
            <a:ext cx="10668000" cy="12700"/>
          </a:xfrm>
          <a:prstGeom prst="rect">
            <a:avLst/>
          </a:prstGeom>
          <a:solidFill>
            <a:srgbClr val="DD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2000" y="6426200"/>
            <a:ext cx="1066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C5C9C6"/>
                </a:solidFill>
                <a:latin typeface="思源黑体"/>
                <a:ea typeface="思源黑体"/>
              </a:rPr>
              <a:t>钠 · Na · 11 号元素 · 碱金属族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406400"/>
            <a:ext cx="5080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526D61"/>
                </a:solidFill>
                <a:latin typeface="思源黑体"/>
                <a:ea typeface="思源黑体"/>
              </a:rPr>
              <a:t>01 · Discover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90000" y="406400"/>
            <a:ext cx="2540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C5C9C6"/>
                </a:solidFill>
                <a:latin typeface="思源黑体"/>
                <a:ea typeface="思源黑体"/>
              </a:rPr>
              <a:t>05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89000"/>
            <a:ext cx="1066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B98215"/>
                </a:solidFill>
                <a:latin typeface="思源黑体"/>
                <a:ea typeface="思源黑体"/>
              </a:rPr>
              <a:t>ATOMIC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30300"/>
            <a:ext cx="10668000" cy="82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252C2B"/>
                </a:solidFill>
                <a:latin typeface="思源黑体"/>
                <a:ea typeface="思源黑体"/>
              </a:rPr>
              <a:t>最外层只有 1 个电子，</a:t>
            </a:r>
            <a:r>
              <a:rPr sz="3200" b="1">
                <a:solidFill>
                  <a:srgbClr val="526D61"/>
                </a:solidFill>
                <a:latin typeface="思源黑体"/>
                <a:ea typeface="思源黑体"/>
              </a:rPr>
              <a:t>注定“留不住”</a:t>
            </a:r>
          </a:p>
        </p:txBody>
      </p:sp>
      <p:pic>
        <p:nvPicPr>
          <p:cNvPr id="7" name="Picture 6" descr="na-atom.png"/>
          <p:cNvPicPr>
            <a:picLocks noChangeAspect="1"/>
          </p:cNvPicPr>
          <p:nvPr/>
        </p:nvPicPr>
        <p:blipFill>
          <a:blip r:embed="rId2"/>
          <a:srcRect t="10000" b="10000"/>
          <a:stretch>
            <a:fillRect/>
          </a:stretch>
        </p:blipFill>
        <p:spPr>
          <a:xfrm>
            <a:off x="762000" y="2095499"/>
            <a:ext cx="4445000" cy="3556000"/>
          </a:xfrm>
          <a:prstGeom prst="rect">
            <a:avLst/>
          </a:prstGeom>
          <a:ln>
            <a:noFill/>
          </a:ln>
        </p:spPr>
      </p:pic>
      <p:sp>
        <p:nvSpPr>
          <p:cNvPr id="8" name="Rectangle 7"/>
          <p:cNvSpPr/>
          <p:nvPr/>
        </p:nvSpPr>
        <p:spPr>
          <a:xfrm>
            <a:off x="889000" y="2222500"/>
            <a:ext cx="3403600" cy="355600"/>
          </a:xfrm>
          <a:prstGeom prst="rect">
            <a:avLst/>
          </a:prstGeom>
          <a:solidFill>
            <a:srgbClr val="252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252C2B"/>
                </a:solidFill>
                <a:latin typeface="思源黑体"/>
                <a:ea typeface="思源黑体"/>
              </a:rPr>
              <a:t>最外层 </a:t>
            </a:r>
            <a:r>
              <a:rPr sz="1100" b="1">
                <a:solidFill>
                  <a:srgbClr val="B98215"/>
                </a:solidFill>
                <a:latin typeface="思源黑体"/>
                <a:ea typeface="思源黑体"/>
              </a:rPr>
              <a:t>1 个</a:t>
            </a:r>
            <a:r>
              <a:rPr sz="1100" b="0">
                <a:solidFill>
                  <a:srgbClr val="252C2B"/>
                </a:solidFill>
                <a:latin typeface="思源黑体"/>
                <a:ea typeface="思源黑体"/>
              </a:rPr>
              <a:t>电子 · 极易失去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5715000"/>
            <a:ext cx="4445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8A938F"/>
                </a:solidFill>
                <a:latin typeface="思源黑体"/>
                <a:ea typeface="思源黑体"/>
              </a:rPr>
              <a:t>钠原子结构示意图（AI 生成）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15000" y="2095499"/>
            <a:ext cx="736600" cy="355600"/>
          </a:xfrm>
          <a:prstGeom prst="rect">
            <a:avLst/>
          </a:prstGeom>
          <a:solidFill>
            <a:srgbClr val="252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5F3ED"/>
                </a:solidFill>
                <a:latin typeface="思源黑体"/>
                <a:ea typeface="思源黑体"/>
              </a:rPr>
              <a:t>排布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42100" y="2044700"/>
            <a:ext cx="47879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50" b="1">
                <a:solidFill>
                  <a:srgbClr val="252C2B"/>
                </a:solidFill>
                <a:latin typeface="思源黑体"/>
                <a:ea typeface="思源黑体"/>
              </a:rPr>
              <a:t>电子层排布 </a:t>
            </a:r>
            <a:r>
              <a:rPr sz="2250" b="1">
                <a:solidFill>
                  <a:srgbClr val="526D61"/>
                </a:solidFill>
                <a:latin typeface="思源黑体"/>
                <a:ea typeface="思源黑体"/>
              </a:rPr>
              <a:t>2-8-1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42100" y="2489200"/>
            <a:ext cx="47879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>
                <a:solidFill>
                  <a:srgbClr val="8A938F"/>
                </a:solidFill>
                <a:latin typeface="思源黑体"/>
                <a:ea typeface="思源黑体"/>
              </a:rPr>
              <a:t>K 层 2、L 层 8、M 层 1，三层结构一目了然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15000" y="3048000"/>
            <a:ext cx="5715000" cy="12700"/>
          </a:xfrm>
          <a:prstGeom prst="rect">
            <a:avLst/>
          </a:prstGeom>
          <a:solidFill>
            <a:srgbClr val="DD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715000" y="3187700"/>
            <a:ext cx="736600" cy="355600"/>
          </a:xfrm>
          <a:prstGeom prst="rect">
            <a:avLst/>
          </a:prstGeom>
          <a:solidFill>
            <a:srgbClr val="526D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5F3ED"/>
                </a:solidFill>
                <a:latin typeface="思源黑体"/>
                <a:ea typeface="思源黑体"/>
              </a:rPr>
              <a:t>半径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2100" y="3136900"/>
            <a:ext cx="47879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50" b="1">
                <a:solidFill>
                  <a:srgbClr val="252C2B"/>
                </a:solidFill>
                <a:latin typeface="思源黑体"/>
                <a:ea typeface="思源黑体"/>
              </a:rPr>
              <a:t>原子半径</a:t>
            </a:r>
            <a:r>
              <a:rPr sz="2250" b="1">
                <a:solidFill>
                  <a:srgbClr val="526D61"/>
                </a:solidFill>
                <a:latin typeface="思源黑体"/>
                <a:ea typeface="思源黑体"/>
              </a:rPr>
              <a:t>大</a:t>
            </a:r>
            <a:r>
              <a:rPr sz="2250" b="1">
                <a:solidFill>
                  <a:srgbClr val="252C2B"/>
                </a:solidFill>
                <a:latin typeface="思源黑体"/>
                <a:ea typeface="思源黑体"/>
              </a:rPr>
              <a:t>，束缚弱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2100" y="3581400"/>
            <a:ext cx="47879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>
                <a:solidFill>
                  <a:srgbClr val="8A938F"/>
                </a:solidFill>
                <a:latin typeface="思源黑体"/>
                <a:ea typeface="思源黑体"/>
              </a:rPr>
              <a:t>11 号元素电子层数多，最外层电子离核远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15000" y="4140200"/>
            <a:ext cx="5715000" cy="12700"/>
          </a:xfrm>
          <a:prstGeom prst="rect">
            <a:avLst/>
          </a:prstGeom>
          <a:solidFill>
            <a:srgbClr val="DD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15000" y="4279900"/>
            <a:ext cx="736600" cy="355600"/>
          </a:xfrm>
          <a:prstGeom prst="rect">
            <a:avLst/>
          </a:prstGeom>
          <a:solidFill>
            <a:srgbClr val="B982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5F3ED"/>
                </a:solidFill>
                <a:latin typeface="思源黑体"/>
                <a:ea typeface="思源黑体"/>
              </a:rPr>
              <a:t>得失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42100" y="4229100"/>
            <a:ext cx="47879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50" b="1">
                <a:solidFill>
                  <a:srgbClr val="252C2B"/>
                </a:solidFill>
                <a:latin typeface="思源黑体"/>
                <a:ea typeface="思源黑体"/>
              </a:rPr>
              <a:t>易</a:t>
            </a:r>
            <a:r>
              <a:rPr sz="2250" b="1">
                <a:solidFill>
                  <a:srgbClr val="526D61"/>
                </a:solidFill>
                <a:latin typeface="思源黑体"/>
                <a:ea typeface="思源黑体"/>
              </a:rPr>
              <a:t>失去</a:t>
            </a:r>
            <a:r>
              <a:rPr sz="2250" b="1">
                <a:solidFill>
                  <a:srgbClr val="252C2B"/>
                </a:solidFill>
                <a:latin typeface="思源黑体"/>
                <a:ea typeface="思源黑体"/>
              </a:rPr>
              <a:t> 1 个电子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2100" y="4673600"/>
            <a:ext cx="47879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>
                <a:solidFill>
                  <a:srgbClr val="8A938F"/>
                </a:solidFill>
                <a:latin typeface="思源黑体"/>
                <a:ea typeface="思源黑体"/>
              </a:rPr>
              <a:t>形成 Na⁺——“暴脾气”的结构根源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15000" y="5232400"/>
            <a:ext cx="5715000" cy="12700"/>
          </a:xfrm>
          <a:prstGeom prst="rect">
            <a:avLst/>
          </a:prstGeom>
          <a:solidFill>
            <a:srgbClr val="DD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715000" y="5435600"/>
            <a:ext cx="5715000" cy="698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715000" y="5435600"/>
            <a:ext cx="50800" cy="698500"/>
          </a:xfrm>
          <a:prstGeom prst="rect">
            <a:avLst/>
          </a:prstGeom>
          <a:solidFill>
            <a:srgbClr val="B982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0" y="5435600"/>
            <a:ext cx="5334000" cy="698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252C2B"/>
                </a:solidFill>
                <a:latin typeface="思源黑体"/>
                <a:ea typeface="思源黑体"/>
              </a:rPr>
              <a:t>结构决定性质：</a:t>
            </a:r>
            <a:r>
              <a:rPr sz="1100" b="1">
                <a:solidFill>
                  <a:srgbClr val="B98215"/>
                </a:solidFill>
                <a:latin typeface="思源黑体"/>
                <a:ea typeface="思源黑体"/>
              </a:rPr>
              <a:t>最外层 1 电子、极易失去</a:t>
            </a:r>
            <a:r>
              <a:rPr sz="1100" b="0">
                <a:solidFill>
                  <a:srgbClr val="252C2B"/>
                </a:solidFill>
                <a:latin typeface="思源黑体"/>
                <a:ea typeface="思源黑体"/>
              </a:rPr>
              <a:t>——后面所有的反应都从这儿开始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2000" y="6388100"/>
            <a:ext cx="10668000" cy="12700"/>
          </a:xfrm>
          <a:prstGeom prst="rect">
            <a:avLst/>
          </a:prstGeom>
          <a:solidFill>
            <a:srgbClr val="DD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2000" y="6426200"/>
            <a:ext cx="1066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C5C9C6"/>
                </a:solidFill>
                <a:latin typeface="思源黑体"/>
                <a:ea typeface="思源黑体"/>
              </a:rPr>
              <a:t>钠 · Na · 11 号元素 · 碱金属族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406400"/>
            <a:ext cx="5080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526D61"/>
                </a:solidFill>
                <a:latin typeface="思源黑体"/>
                <a:ea typeface="思源黑体"/>
              </a:rPr>
              <a:t>01 · Discover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90000" y="406400"/>
            <a:ext cx="2540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C5C9C6"/>
                </a:solidFill>
                <a:latin typeface="思源黑体"/>
                <a:ea typeface="思源黑体"/>
              </a:rPr>
              <a:t>06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89000"/>
            <a:ext cx="1066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B98215"/>
                </a:solidFill>
                <a:latin typeface="思源黑体"/>
                <a:ea typeface="思源黑体"/>
              </a:rPr>
              <a:t>STORAGE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30300"/>
            <a:ext cx="10668000" cy="82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252C2B"/>
                </a:solidFill>
                <a:latin typeface="思源黑体"/>
                <a:ea typeface="思源黑体"/>
              </a:rPr>
              <a:t>住在煤油里的金属：</a:t>
            </a:r>
            <a:r>
              <a:rPr sz="3200" b="1">
                <a:solidFill>
                  <a:srgbClr val="526D61"/>
                </a:solidFill>
                <a:latin typeface="思源黑体"/>
                <a:ea typeface="思源黑体"/>
              </a:rPr>
              <a:t>隔绝空气与水</a:t>
            </a:r>
          </a:p>
        </p:txBody>
      </p:sp>
      <p:pic>
        <p:nvPicPr>
          <p:cNvPr id="7" name="Picture 6" descr="na-cut.png"/>
          <p:cNvPicPr>
            <a:picLocks noChangeAspect="1"/>
          </p:cNvPicPr>
          <p:nvPr/>
        </p:nvPicPr>
        <p:blipFill>
          <a:blip r:embed="rId2"/>
          <a:srcRect t="10000" b="10000"/>
          <a:stretch>
            <a:fillRect/>
          </a:stretch>
        </p:blipFill>
        <p:spPr>
          <a:xfrm>
            <a:off x="762000" y="2095499"/>
            <a:ext cx="4445000" cy="3556000"/>
          </a:xfrm>
          <a:prstGeom prst="rect">
            <a:avLst/>
          </a:prstGeom>
          <a:ln>
            <a:noFill/>
          </a:ln>
        </p:spPr>
      </p:pic>
      <p:sp>
        <p:nvSpPr>
          <p:cNvPr id="8" name="TextBox 7"/>
          <p:cNvSpPr txBox="1"/>
          <p:nvPr/>
        </p:nvSpPr>
        <p:spPr>
          <a:xfrm>
            <a:off x="762000" y="5715000"/>
            <a:ext cx="4445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8A938F"/>
                </a:solidFill>
                <a:latin typeface="思源黑体"/>
                <a:ea typeface="思源黑体"/>
              </a:rPr>
              <a:t>试剂瓶中的金属钠：沉在煤油底部，隔绝氧气和水蒸气</a:t>
            </a:r>
          </a:p>
        </p:txBody>
      </p:sp>
      <p:sp>
        <p:nvSpPr>
          <p:cNvPr id="9" name="Oval 8"/>
          <p:cNvSpPr/>
          <p:nvPr/>
        </p:nvSpPr>
        <p:spPr>
          <a:xfrm>
            <a:off x="5715000" y="2095499"/>
            <a:ext cx="457200" cy="457200"/>
          </a:xfrm>
          <a:prstGeom prst="ellipse">
            <a:avLst/>
          </a:prstGeom>
          <a:solidFill>
            <a:srgbClr val="526D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50" b="1">
                <a:solidFill>
                  <a:srgbClr val="F5F3ED"/>
                </a:solidFill>
                <a:latin typeface="思源黑体"/>
                <a:ea typeface="思源黑体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0" y="2057400"/>
            <a:ext cx="5080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252C2B"/>
                </a:solidFill>
                <a:latin typeface="思源黑体"/>
                <a:ea typeface="思源黑体"/>
              </a:rPr>
              <a:t>常温下钠与氧气反应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0" y="2425700"/>
            <a:ext cx="5080000" cy="44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>
                <a:solidFill>
                  <a:srgbClr val="8A938F"/>
                </a:solidFill>
                <a:latin typeface="思源黑体"/>
                <a:ea typeface="思源黑体"/>
              </a:rPr>
              <a:t>4Na + O₂ = 2Na₂O——表面迅速变暗，所以钠不能裸露存放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943600" y="2603500"/>
            <a:ext cx="0" cy="444500"/>
          </a:xfrm>
          <a:prstGeom prst="line">
            <a:avLst/>
          </a:prstGeom>
          <a:ln w="38100">
            <a:solidFill>
              <a:srgbClr val="B982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Isosceles Triangle 12"/>
          <p:cNvSpPr/>
          <p:nvPr/>
        </p:nvSpPr>
        <p:spPr>
          <a:xfrm rot="10800000">
            <a:off x="5892800" y="2997200"/>
            <a:ext cx="101600" cy="101600"/>
          </a:xfrm>
          <a:prstGeom prst="triangle">
            <a:avLst/>
          </a:prstGeom>
          <a:solidFill>
            <a:srgbClr val="B982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715000" y="3162300"/>
            <a:ext cx="457200" cy="457200"/>
          </a:xfrm>
          <a:prstGeom prst="ellipse">
            <a:avLst/>
          </a:prstGeom>
          <a:solidFill>
            <a:srgbClr val="526D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50" b="1">
                <a:solidFill>
                  <a:srgbClr val="F5F3ED"/>
                </a:solidFill>
                <a:latin typeface="思源黑体"/>
                <a:ea typeface="思源黑体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0000" y="3124200"/>
            <a:ext cx="5080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252C2B"/>
                </a:solidFill>
                <a:latin typeface="思源黑体"/>
                <a:ea typeface="思源黑体"/>
              </a:rPr>
              <a:t>钠还能与水剧烈反应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0000" y="3492500"/>
            <a:ext cx="5080000" cy="44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>
                <a:solidFill>
                  <a:srgbClr val="8A938F"/>
                </a:solidFill>
                <a:latin typeface="思源黑体"/>
                <a:ea typeface="思源黑体"/>
              </a:rPr>
              <a:t>空气里的水蒸气也足以让它缓慢变质，更不能接触液态水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43600" y="3670300"/>
            <a:ext cx="0" cy="444500"/>
          </a:xfrm>
          <a:prstGeom prst="line">
            <a:avLst/>
          </a:prstGeom>
          <a:ln w="38100">
            <a:solidFill>
              <a:srgbClr val="B982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10800000">
            <a:off x="5892800" y="4064000"/>
            <a:ext cx="101600" cy="101600"/>
          </a:xfrm>
          <a:prstGeom prst="triangle">
            <a:avLst/>
          </a:prstGeom>
          <a:solidFill>
            <a:srgbClr val="B982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715000" y="4229100"/>
            <a:ext cx="457200" cy="457200"/>
          </a:xfrm>
          <a:prstGeom prst="ellipse">
            <a:avLst/>
          </a:prstGeom>
          <a:solidFill>
            <a:srgbClr val="526D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50" b="1">
                <a:solidFill>
                  <a:srgbClr val="F5F3ED"/>
                </a:solidFill>
                <a:latin typeface="思源黑体"/>
                <a:ea typeface="思源黑体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0000" y="4190999"/>
            <a:ext cx="5080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252C2B"/>
                </a:solidFill>
                <a:latin typeface="思源黑体"/>
                <a:ea typeface="思源黑体"/>
              </a:rPr>
              <a:t>解法：浸在煤油中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0000" y="4559300"/>
            <a:ext cx="5080000" cy="44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>
                <a:solidFill>
                  <a:srgbClr val="8A938F"/>
                </a:solidFill>
                <a:latin typeface="思源黑体"/>
                <a:ea typeface="思源黑体"/>
              </a:rPr>
              <a:t>煤油不与钠反应；钠密度（0.97）大于煤油（约 0.8），自然沉底——既隔氧又隔水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715000" y="5397500"/>
            <a:ext cx="5715000" cy="698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715000" y="5397500"/>
            <a:ext cx="50800" cy="698500"/>
          </a:xfrm>
          <a:prstGeom prst="rect">
            <a:avLst/>
          </a:prstGeom>
          <a:solidFill>
            <a:srgbClr val="B982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0" y="5397500"/>
            <a:ext cx="5334000" cy="698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B98215"/>
                </a:solidFill>
                <a:latin typeface="思源黑体"/>
                <a:ea typeface="思源黑体"/>
              </a:rPr>
              <a:t>安全提示：</a:t>
            </a:r>
            <a:r>
              <a:rPr sz="1100" b="0">
                <a:solidFill>
                  <a:srgbClr val="252C2B"/>
                </a:solidFill>
                <a:latin typeface="思源黑体"/>
                <a:ea typeface="思源黑体"/>
              </a:rPr>
              <a:t>取用钠必须用镊子，在玻璃片上用小刀切割，切下的碎块立刻放回煤油；</a:t>
            </a:r>
            <a:r>
              <a:rPr sz="1100" b="1">
                <a:solidFill>
                  <a:srgbClr val="B98215"/>
                </a:solidFill>
                <a:latin typeface="思源黑体"/>
                <a:ea typeface="思源黑体"/>
              </a:rPr>
              <a:t>严禁用手直接接触，严禁接近水源</a:t>
            </a:r>
            <a:r>
              <a:rPr sz="1100" b="0">
                <a:solidFill>
                  <a:srgbClr val="252C2B"/>
                </a:solidFill>
                <a:latin typeface="思源黑体"/>
                <a:ea typeface="思源黑体"/>
              </a:rPr>
              <a:t>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2000" y="6388100"/>
            <a:ext cx="10668000" cy="12700"/>
          </a:xfrm>
          <a:prstGeom prst="rect">
            <a:avLst/>
          </a:prstGeom>
          <a:solidFill>
            <a:srgbClr val="DD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2000" y="6426200"/>
            <a:ext cx="1066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C5C9C6"/>
                </a:solidFill>
                <a:latin typeface="思源黑体"/>
                <a:ea typeface="思源黑体"/>
              </a:rPr>
              <a:t>密度关系是保存方案的物理依据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406400"/>
            <a:ext cx="5080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526D61"/>
                </a:solidFill>
                <a:latin typeface="思源黑体"/>
                <a:ea typeface="思源黑体"/>
              </a:rPr>
              <a:t>02 · React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90000" y="406400"/>
            <a:ext cx="2540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C5C9C6"/>
                </a:solidFill>
                <a:latin typeface="思源黑体"/>
                <a:ea typeface="思源黑体"/>
              </a:rPr>
              <a:t>07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89000"/>
            <a:ext cx="1066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B98215"/>
                </a:solidFill>
                <a:latin typeface="思源黑体"/>
                <a:ea typeface="思源黑体"/>
              </a:rPr>
              <a:t>REACTION WITH OXYGEN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30300"/>
            <a:ext cx="10668000" cy="82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252C2B"/>
                </a:solidFill>
                <a:latin typeface="思源黑体"/>
                <a:ea typeface="思源黑体"/>
              </a:rPr>
              <a:t>空气里几秒就“蒙尘”，</a:t>
            </a:r>
            <a:r>
              <a:rPr sz="3200" b="1">
                <a:solidFill>
                  <a:srgbClr val="526D61"/>
                </a:solidFill>
                <a:latin typeface="思源黑体"/>
                <a:ea typeface="思源黑体"/>
              </a:rPr>
              <a:t>点燃则烈焰相迎</a:t>
            </a:r>
          </a:p>
        </p:txBody>
      </p:sp>
      <p:pic>
        <p:nvPicPr>
          <p:cNvPr id="7" name="Picture 6" descr="na-oxygen.png"/>
          <p:cNvPicPr>
            <a:picLocks noChangeAspect="1"/>
          </p:cNvPicPr>
          <p:nvPr/>
        </p:nvPicPr>
        <p:blipFill>
          <a:blip r:embed="rId2"/>
          <a:srcRect l="15116" r="15116"/>
          <a:stretch>
            <a:fillRect/>
          </a:stretch>
        </p:blipFill>
        <p:spPr>
          <a:xfrm>
            <a:off x="762000" y="2095499"/>
            <a:ext cx="4445000" cy="3556000"/>
          </a:xfrm>
          <a:prstGeom prst="rect">
            <a:avLst/>
          </a:prstGeom>
          <a:ln>
            <a:noFill/>
          </a:ln>
        </p:spPr>
      </p:pic>
      <p:sp>
        <p:nvSpPr>
          <p:cNvPr id="8" name="Rectangle 7"/>
          <p:cNvSpPr/>
          <p:nvPr/>
        </p:nvSpPr>
        <p:spPr>
          <a:xfrm>
            <a:off x="889000" y="2222500"/>
            <a:ext cx="3022600" cy="355600"/>
          </a:xfrm>
          <a:prstGeom prst="rect">
            <a:avLst/>
          </a:prstGeom>
          <a:solidFill>
            <a:srgbClr val="252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252C2B"/>
                </a:solidFill>
                <a:latin typeface="思源黑体"/>
                <a:ea typeface="思源黑体"/>
              </a:rPr>
              <a:t>点燃 </a:t>
            </a:r>
            <a:r>
              <a:rPr sz="1100" b="1">
                <a:solidFill>
                  <a:srgbClr val="B98215"/>
                </a:solidFill>
                <a:latin typeface="思源黑体"/>
                <a:ea typeface="思源黑体"/>
              </a:rPr>
              <a:t>黄色火焰</a:t>
            </a:r>
            <a:r>
              <a:rPr sz="1100" b="0">
                <a:solidFill>
                  <a:srgbClr val="252C2B"/>
                </a:solidFill>
                <a:latin typeface="思源黑体"/>
                <a:ea typeface="思源黑体"/>
              </a:rPr>
              <a:t> · 火星四溅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5715000"/>
            <a:ext cx="4445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8A938F"/>
                </a:solidFill>
                <a:latin typeface="思源黑体"/>
                <a:ea typeface="思源黑体"/>
              </a:rPr>
              <a:t>钠在氧气中燃烧（AI 生成示意）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15000" y="2095499"/>
            <a:ext cx="736600" cy="355600"/>
          </a:xfrm>
          <a:prstGeom prst="rect">
            <a:avLst/>
          </a:prstGeom>
          <a:solidFill>
            <a:srgbClr val="252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5F3ED"/>
                </a:solidFill>
                <a:latin typeface="思源黑体"/>
                <a:ea typeface="思源黑体"/>
              </a:rPr>
              <a:t>常温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42100" y="2044700"/>
            <a:ext cx="47879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50" b="1">
                <a:solidFill>
                  <a:srgbClr val="252C2B"/>
                </a:solidFill>
                <a:latin typeface="思源黑体"/>
                <a:ea typeface="思源黑体"/>
              </a:rPr>
              <a:t>表面迅速</a:t>
            </a:r>
            <a:r>
              <a:rPr sz="2250" b="1">
                <a:solidFill>
                  <a:srgbClr val="526D61"/>
                </a:solidFill>
                <a:latin typeface="思源黑体"/>
                <a:ea typeface="思源黑体"/>
              </a:rPr>
              <a:t>变暗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42100" y="2489200"/>
            <a:ext cx="47879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>
                <a:solidFill>
                  <a:srgbClr val="8A938F"/>
                </a:solidFill>
                <a:latin typeface="思源黑体"/>
                <a:ea typeface="思源黑体"/>
              </a:rPr>
              <a:t>4Na + O₂ → 2Na₂O；白色固体，新切面几秒就“蒙尘”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15000" y="3048000"/>
            <a:ext cx="5715000" cy="12700"/>
          </a:xfrm>
          <a:prstGeom prst="rect">
            <a:avLst/>
          </a:prstGeom>
          <a:solidFill>
            <a:srgbClr val="DD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715000" y="3187700"/>
            <a:ext cx="736600" cy="355600"/>
          </a:xfrm>
          <a:prstGeom prst="rect">
            <a:avLst/>
          </a:prstGeom>
          <a:solidFill>
            <a:srgbClr val="526D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5F3ED"/>
                </a:solidFill>
                <a:latin typeface="思源黑体"/>
                <a:ea typeface="思源黑体"/>
              </a:rPr>
              <a:t>点燃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2100" y="3136900"/>
            <a:ext cx="47879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50" b="1">
                <a:solidFill>
                  <a:srgbClr val="526D61"/>
                </a:solidFill>
                <a:latin typeface="思源黑体"/>
                <a:ea typeface="思源黑体"/>
              </a:rPr>
              <a:t>剧烈燃烧</a:t>
            </a:r>
            <a:r>
              <a:rPr sz="2250" b="1">
                <a:solidFill>
                  <a:srgbClr val="252C2B"/>
                </a:solidFill>
                <a:latin typeface="思源黑体"/>
                <a:ea typeface="思源黑体"/>
              </a:rPr>
              <a:t> · 黄色火焰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2100" y="3581400"/>
            <a:ext cx="47879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>
                <a:solidFill>
                  <a:srgbClr val="8A938F"/>
                </a:solidFill>
                <a:latin typeface="思源黑体"/>
                <a:ea typeface="思源黑体"/>
              </a:rPr>
              <a:t>2Na + O₂ → Na₂O₂（点燃）；火星四溅，现象极具辨识度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15000" y="4140200"/>
            <a:ext cx="5715000" cy="12700"/>
          </a:xfrm>
          <a:prstGeom prst="rect">
            <a:avLst/>
          </a:prstGeom>
          <a:solidFill>
            <a:srgbClr val="DD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15000" y="4279900"/>
            <a:ext cx="736600" cy="355600"/>
          </a:xfrm>
          <a:prstGeom prst="rect">
            <a:avLst/>
          </a:prstGeom>
          <a:solidFill>
            <a:srgbClr val="B982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5F3ED"/>
                </a:solidFill>
                <a:latin typeface="思源黑体"/>
                <a:ea typeface="思源黑体"/>
              </a:rPr>
              <a:t>产物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42100" y="4229100"/>
            <a:ext cx="47879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50" b="1">
                <a:solidFill>
                  <a:srgbClr val="252C2B"/>
                </a:solidFill>
                <a:latin typeface="思源黑体"/>
                <a:ea typeface="思源黑体"/>
              </a:rPr>
              <a:t>Na₂O₂ </a:t>
            </a:r>
            <a:r>
              <a:rPr sz="2250" b="1">
                <a:solidFill>
                  <a:srgbClr val="526D61"/>
                </a:solidFill>
                <a:latin typeface="思源黑体"/>
                <a:ea typeface="思源黑体"/>
              </a:rPr>
              <a:t>淡黄色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2100" y="4673600"/>
            <a:ext cx="47879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>
                <a:solidFill>
                  <a:srgbClr val="8A938F"/>
                </a:solidFill>
                <a:latin typeface="思源黑体"/>
                <a:ea typeface="思源黑体"/>
              </a:rPr>
              <a:t>过氧化钠——比氧化钠多一个氧，“胃口”更大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15000" y="5232400"/>
            <a:ext cx="5715000" cy="12700"/>
          </a:xfrm>
          <a:prstGeom prst="rect">
            <a:avLst/>
          </a:prstGeom>
          <a:solidFill>
            <a:srgbClr val="DD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715000" y="5435600"/>
            <a:ext cx="5715000" cy="698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715000" y="5435600"/>
            <a:ext cx="50800" cy="698500"/>
          </a:xfrm>
          <a:prstGeom prst="rect">
            <a:avLst/>
          </a:prstGeom>
          <a:solidFill>
            <a:srgbClr val="B982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0" y="5435600"/>
            <a:ext cx="5334000" cy="698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252C2B"/>
                </a:solidFill>
                <a:latin typeface="思源黑体"/>
                <a:ea typeface="思源黑体"/>
              </a:rPr>
              <a:t>同一个钠，两种“脾气”：</a:t>
            </a:r>
            <a:r>
              <a:rPr sz="1100" b="1">
                <a:solidFill>
                  <a:srgbClr val="B98215"/>
                </a:solidFill>
                <a:latin typeface="思源黑体"/>
                <a:ea typeface="思源黑体"/>
              </a:rPr>
              <a:t>常温缓慢氧化、点燃剧烈燃烧</a:t>
            </a:r>
            <a:r>
              <a:rPr sz="1100" b="0">
                <a:solidFill>
                  <a:srgbClr val="252C2B"/>
                </a:solidFill>
                <a:latin typeface="思源黑体"/>
                <a:ea typeface="思源黑体"/>
              </a:rPr>
              <a:t>——条件决定产物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2000" y="6388100"/>
            <a:ext cx="10668000" cy="12700"/>
          </a:xfrm>
          <a:prstGeom prst="rect">
            <a:avLst/>
          </a:prstGeom>
          <a:solidFill>
            <a:srgbClr val="DD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2000" y="6426200"/>
            <a:ext cx="1066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C5C9C6"/>
                </a:solidFill>
                <a:latin typeface="思源黑体"/>
                <a:ea typeface="思源黑体"/>
              </a:rPr>
              <a:t>钠 · Na · 11 号元素 · 碱金属族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406400"/>
            <a:ext cx="5080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526D61"/>
                </a:solidFill>
                <a:latin typeface="思源黑体"/>
                <a:ea typeface="思源黑体"/>
              </a:rPr>
              <a:t>03 · Compounds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90000" y="406400"/>
            <a:ext cx="2540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C5C9C6"/>
                </a:solidFill>
                <a:latin typeface="思源黑体"/>
                <a:ea typeface="思源黑体"/>
              </a:rPr>
              <a:t>08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89000"/>
            <a:ext cx="1066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B98215"/>
                </a:solidFill>
                <a:latin typeface="思源黑体"/>
                <a:ea typeface="思源黑体"/>
              </a:rPr>
              <a:t>SODIUM COMPOUNDS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30300"/>
            <a:ext cx="10668000" cy="82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252C2B"/>
                </a:solidFill>
                <a:latin typeface="思源黑体"/>
                <a:ea typeface="思源黑体"/>
              </a:rPr>
              <a:t>钠的“化合物家族”，</a:t>
            </a:r>
            <a:r>
              <a:rPr sz="3200" b="1">
                <a:solidFill>
                  <a:srgbClr val="526D61"/>
                </a:solidFill>
                <a:latin typeface="思源黑体"/>
                <a:ea typeface="思源黑体"/>
              </a:rPr>
              <a:t>个个身怀绝技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2000" y="2095499"/>
          <a:ext cx="10667999" cy="3606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59000"/>
                <a:gridCol w="2836333"/>
                <a:gridCol w="2836333"/>
                <a:gridCol w="2836333"/>
              </a:tblGrid>
              <a:tr h="5588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F5F3ED"/>
                          </a:solidFill>
                          <a:latin typeface="思源黑体"/>
                          <a:ea typeface="思源黑体"/>
                        </a:rPr>
                        <a:t>化合物</a:t>
                      </a:r>
                    </a:p>
                  </a:txBody>
                  <a:tcPr anchor="ctr">
                    <a:solidFill>
                      <a:srgbClr val="526D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F5F3ED"/>
                          </a:solidFill>
                          <a:latin typeface="思源黑体"/>
                          <a:ea typeface="思源黑体"/>
                        </a:rPr>
                        <a:t>俗名</a:t>
                      </a:r>
                    </a:p>
                  </a:txBody>
                  <a:tcPr anchor="ctr">
                    <a:solidFill>
                      <a:srgbClr val="526D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F5F3ED"/>
                          </a:solidFill>
                          <a:latin typeface="思源黑体"/>
                          <a:ea typeface="思源黑体"/>
                        </a:rPr>
                        <a:t>性状</a:t>
                      </a:r>
                    </a:p>
                  </a:txBody>
                  <a:tcPr anchor="ctr">
                    <a:solidFill>
                      <a:srgbClr val="526D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F5F3ED"/>
                          </a:solidFill>
                          <a:latin typeface="思源黑体"/>
                          <a:ea typeface="思源黑体"/>
                        </a:rPr>
                        <a:t>用途</a:t>
                      </a:r>
                    </a:p>
                  </a:txBody>
                  <a:tcPr anchor="ctr">
                    <a:solidFill>
                      <a:srgbClr val="526D61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526D61"/>
                          </a:solidFill>
                          <a:latin typeface="思源黑体"/>
                          <a:ea typeface="思源黑体"/>
                        </a:rPr>
                        <a:t>Na₂O</a:t>
                      </a:r>
                    </a:p>
                  </a:txBody>
                  <a:tcPr anchor="ctr">
                    <a:solidFill>
                      <a:srgbClr val="F5F3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52C2B"/>
                          </a:solidFill>
                          <a:latin typeface="思源黑体"/>
                          <a:ea typeface="思源黑体"/>
                        </a:rPr>
                        <a:t>—</a:t>
                      </a:r>
                    </a:p>
                  </a:txBody>
                  <a:tcPr anchor="ctr">
                    <a:solidFill>
                      <a:srgbClr val="F5F3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52C2B"/>
                          </a:solidFill>
                          <a:latin typeface="思源黑体"/>
                          <a:ea typeface="思源黑体"/>
                        </a:rPr>
                        <a:t>白色固体</a:t>
                      </a:r>
                    </a:p>
                  </a:txBody>
                  <a:tcPr anchor="ctr">
                    <a:solidFill>
                      <a:srgbClr val="F5F3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52C2B"/>
                          </a:solidFill>
                          <a:latin typeface="思源黑体"/>
                          <a:ea typeface="思源黑体"/>
                        </a:rPr>
                        <a:t>钠表面“蒙尘”的真身</a:t>
                      </a:r>
                    </a:p>
                  </a:txBody>
                  <a:tcPr anchor="ctr">
                    <a:solidFill>
                      <a:srgbClr val="F5F3ED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526D61"/>
                          </a:solidFill>
                          <a:latin typeface="思源黑体"/>
                          <a:ea typeface="思源黑体"/>
                        </a:rPr>
                        <a:t>Na₂O₂</a:t>
                      </a:r>
                    </a:p>
                  </a:txBody>
                  <a:tcPr anchor="ctr">
                    <a:solidFill>
                      <a:srgbClr val="F5F3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52C2B"/>
                          </a:solidFill>
                          <a:latin typeface="思源黑体"/>
                          <a:ea typeface="思源黑体"/>
                        </a:rPr>
                        <a:t>过氧化钠</a:t>
                      </a:r>
                    </a:p>
                  </a:txBody>
                  <a:tcPr anchor="ctr">
                    <a:solidFill>
                      <a:srgbClr val="F5F3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526D61"/>
                          </a:solidFill>
                          <a:latin typeface="思源黑体"/>
                          <a:ea typeface="思源黑体"/>
                        </a:rPr>
                        <a:t>淡黄色</a:t>
                      </a:r>
                      <a:r>
                        <a:rPr sz="1700" b="0">
                          <a:solidFill>
                            <a:srgbClr val="252C2B"/>
                          </a:solidFill>
                          <a:latin typeface="思源黑体"/>
                          <a:ea typeface="思源黑体"/>
                        </a:rPr>
                        <a:t>固体</a:t>
                      </a:r>
                    </a:p>
                  </a:txBody>
                  <a:tcPr anchor="ctr">
                    <a:solidFill>
                      <a:srgbClr val="F5F3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52C2B"/>
                          </a:solidFill>
                          <a:latin typeface="思源黑体"/>
                          <a:ea typeface="思源黑体"/>
                        </a:rPr>
                        <a:t>呼吸面具供氧剂</a:t>
                      </a:r>
                    </a:p>
                  </a:txBody>
                  <a:tcPr anchor="ctr">
                    <a:solidFill>
                      <a:srgbClr val="F5F3ED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526D61"/>
                          </a:solidFill>
                          <a:latin typeface="思源黑体"/>
                          <a:ea typeface="思源黑体"/>
                        </a:rPr>
                        <a:t>NaOH</a:t>
                      </a:r>
                    </a:p>
                  </a:txBody>
                  <a:tcPr anchor="ctr">
                    <a:solidFill>
                      <a:srgbClr val="F5F3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52C2B"/>
                          </a:solidFill>
                          <a:latin typeface="思源黑体"/>
                          <a:ea typeface="思源黑体"/>
                        </a:rPr>
                        <a:t>烧碱 / 火碱</a:t>
                      </a:r>
                    </a:p>
                  </a:txBody>
                  <a:tcPr anchor="ctr">
                    <a:solidFill>
                      <a:srgbClr val="F5F3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52C2B"/>
                          </a:solidFill>
                          <a:latin typeface="思源黑体"/>
                          <a:ea typeface="思源黑体"/>
                        </a:rPr>
                        <a:t>白色固体，易潮解</a:t>
                      </a:r>
                    </a:p>
                  </a:txBody>
                  <a:tcPr anchor="ctr">
                    <a:solidFill>
                      <a:srgbClr val="F5F3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52C2B"/>
                          </a:solidFill>
                          <a:latin typeface="思源黑体"/>
                          <a:ea typeface="思源黑体"/>
                        </a:rPr>
                        <a:t>造纸、制皂</a:t>
                      </a:r>
                    </a:p>
                  </a:txBody>
                  <a:tcPr anchor="ctr">
                    <a:solidFill>
                      <a:srgbClr val="F5F3ED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526D61"/>
                          </a:solidFill>
                          <a:latin typeface="思源黑体"/>
                          <a:ea typeface="思源黑体"/>
                        </a:rPr>
                        <a:t>Na₂CO₃</a:t>
                      </a:r>
                    </a:p>
                  </a:txBody>
                  <a:tcPr anchor="ctr">
                    <a:solidFill>
                      <a:srgbClr val="F5F3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52C2B"/>
                          </a:solidFill>
                          <a:latin typeface="思源黑体"/>
                          <a:ea typeface="思源黑体"/>
                        </a:rPr>
                        <a:t>纯碱 / 苏打</a:t>
                      </a:r>
                    </a:p>
                  </a:txBody>
                  <a:tcPr anchor="ctr">
                    <a:solidFill>
                      <a:srgbClr val="F5F3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52C2B"/>
                          </a:solidFill>
                          <a:latin typeface="思源黑体"/>
                          <a:ea typeface="思源黑体"/>
                        </a:rPr>
                        <a:t>白色粉末</a:t>
                      </a:r>
                    </a:p>
                  </a:txBody>
                  <a:tcPr anchor="ctr">
                    <a:solidFill>
                      <a:srgbClr val="F5F3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52C2B"/>
                          </a:solidFill>
                          <a:latin typeface="思源黑体"/>
                          <a:ea typeface="思源黑体"/>
                        </a:rPr>
                        <a:t>玻璃、洗涤剂</a:t>
                      </a:r>
                    </a:p>
                  </a:txBody>
                  <a:tcPr anchor="ctr">
                    <a:solidFill>
                      <a:srgbClr val="F5F3ED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526D61"/>
                          </a:solidFill>
                          <a:latin typeface="思源黑体"/>
                          <a:ea typeface="思源黑体"/>
                        </a:rPr>
                        <a:t>NaHCO₃</a:t>
                      </a:r>
                    </a:p>
                  </a:txBody>
                  <a:tcPr anchor="ctr">
                    <a:solidFill>
                      <a:srgbClr val="F5F3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52C2B"/>
                          </a:solidFill>
                          <a:latin typeface="思源黑体"/>
                          <a:ea typeface="思源黑体"/>
                        </a:rPr>
                        <a:t>小苏打</a:t>
                      </a:r>
                    </a:p>
                  </a:txBody>
                  <a:tcPr anchor="ctr">
                    <a:solidFill>
                      <a:srgbClr val="F5F3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52C2B"/>
                          </a:solidFill>
                          <a:latin typeface="思源黑体"/>
                          <a:ea typeface="思源黑体"/>
                        </a:rPr>
                        <a:t>白色细小晶体</a:t>
                      </a:r>
                    </a:p>
                  </a:txBody>
                  <a:tcPr anchor="ctr">
                    <a:solidFill>
                      <a:srgbClr val="F5F3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52C2B"/>
                          </a:solidFill>
                          <a:latin typeface="思源黑体"/>
                          <a:ea typeface="思源黑体"/>
                        </a:rPr>
                        <a:t>发酵粉、灭火器</a:t>
                      </a:r>
                    </a:p>
                  </a:txBody>
                  <a:tcPr anchor="ctr">
                    <a:solidFill>
                      <a:srgbClr val="F5F3ED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62000" y="5956300"/>
            <a:ext cx="10668000" cy="698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5956300"/>
            <a:ext cx="50800" cy="698500"/>
          </a:xfrm>
          <a:prstGeom prst="rect">
            <a:avLst/>
          </a:prstGeom>
          <a:solidFill>
            <a:srgbClr val="B982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0599" y="5956300"/>
            <a:ext cx="10287000" cy="698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252C2B"/>
                </a:solidFill>
                <a:latin typeface="思源黑体"/>
                <a:ea typeface="思源黑体"/>
              </a:rPr>
              <a:t>认全这五位：</a:t>
            </a:r>
            <a:r>
              <a:rPr sz="1100" b="1">
                <a:solidFill>
                  <a:srgbClr val="B98215"/>
                </a:solidFill>
                <a:latin typeface="思源黑体"/>
                <a:ea typeface="思源黑体"/>
              </a:rPr>
              <a:t>从氧化物到碳酸盐</a:t>
            </a:r>
            <a:r>
              <a:rPr sz="1100" b="0">
                <a:solidFill>
                  <a:srgbClr val="252C2B"/>
                </a:solidFill>
                <a:latin typeface="思源黑体"/>
                <a:ea typeface="思源黑体"/>
              </a:rPr>
              <a:t>——钠的化合物撑起半个化工史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6388100"/>
            <a:ext cx="10668000" cy="12700"/>
          </a:xfrm>
          <a:prstGeom prst="rect">
            <a:avLst/>
          </a:prstGeom>
          <a:solidFill>
            <a:srgbClr val="DD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2000" y="6426200"/>
            <a:ext cx="1066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C5C9C6"/>
                </a:solidFill>
                <a:latin typeface="思源黑体"/>
                <a:ea typeface="思源黑体"/>
              </a:rPr>
              <a:t>钠 · Na · 11 号元素 · 碱金属族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406400"/>
            <a:ext cx="5080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526D61"/>
                </a:solidFill>
                <a:latin typeface="思源黑体"/>
                <a:ea typeface="思源黑体"/>
              </a:rPr>
              <a:t>02 · React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90000" y="406400"/>
            <a:ext cx="2540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C5C9C6"/>
                </a:solidFill>
                <a:latin typeface="思源黑体"/>
                <a:ea typeface="思源黑体"/>
              </a:rPr>
              <a:t>09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89000"/>
            <a:ext cx="1066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B98215"/>
                </a:solidFill>
                <a:latin typeface="思源黑体"/>
                <a:ea typeface="思源黑体"/>
              </a:rPr>
              <a:t>CONDITION BRANCH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30300"/>
            <a:ext cx="10668000" cy="82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252C2B"/>
                </a:solidFill>
                <a:latin typeface="思源黑体"/>
                <a:ea typeface="思源黑体"/>
              </a:rPr>
              <a:t>条件一变，</a:t>
            </a:r>
            <a:r>
              <a:rPr sz="3200" b="1">
                <a:solidFill>
                  <a:srgbClr val="526D61"/>
                </a:solidFill>
                <a:latin typeface="思源黑体"/>
                <a:ea typeface="思源黑体"/>
              </a:rPr>
              <a:t>产物就变</a:t>
            </a:r>
          </a:p>
        </p:txBody>
      </p:sp>
      <p:sp>
        <p:nvSpPr>
          <p:cNvPr id="7" name="Rectangle 6"/>
          <p:cNvSpPr/>
          <p:nvPr/>
        </p:nvSpPr>
        <p:spPr>
          <a:xfrm>
            <a:off x="4445000" y="2159000"/>
            <a:ext cx="3302000" cy="825500"/>
          </a:xfrm>
          <a:prstGeom prst="rect">
            <a:avLst/>
          </a:prstGeom>
          <a:solidFill>
            <a:srgbClr val="526D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F5F3ED"/>
                </a:solidFill>
                <a:latin typeface="思源黑体"/>
                <a:ea typeface="思源黑体"/>
              </a:rPr>
              <a:t>钠 + 氧气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F5F3ED"/>
                </a:solidFill>
                <a:latin typeface="思源黑体"/>
                <a:ea typeface="思源黑体"/>
              </a:rPr>
              <a:t>同一起点：金属钠遇到氧气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3300" y="2984500"/>
            <a:ext cx="25400" cy="419100"/>
          </a:xfrm>
          <a:prstGeom prst="rect">
            <a:avLst/>
          </a:prstGeom>
          <a:solidFill>
            <a:srgbClr val="B982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54500" y="3390900"/>
            <a:ext cx="3683000" cy="25400"/>
          </a:xfrm>
          <a:prstGeom prst="rect">
            <a:avLst/>
          </a:prstGeom>
          <a:solidFill>
            <a:srgbClr val="B982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4254500" y="3403600"/>
            <a:ext cx="0" cy="381000"/>
          </a:xfrm>
          <a:prstGeom prst="line">
            <a:avLst/>
          </a:prstGeom>
          <a:ln w="38100">
            <a:solidFill>
              <a:srgbClr val="B982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10800000">
            <a:off x="4197350" y="3727450"/>
            <a:ext cx="114300" cy="114300"/>
          </a:xfrm>
          <a:prstGeom prst="triangle">
            <a:avLst/>
          </a:prstGeom>
          <a:solidFill>
            <a:srgbClr val="B982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7937500" y="3403600"/>
            <a:ext cx="0" cy="381000"/>
          </a:xfrm>
          <a:prstGeom prst="line">
            <a:avLst/>
          </a:prstGeom>
          <a:ln w="38100">
            <a:solidFill>
              <a:srgbClr val="B982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Isosceles Triangle 12"/>
          <p:cNvSpPr/>
          <p:nvPr/>
        </p:nvSpPr>
        <p:spPr>
          <a:xfrm rot="10800000">
            <a:off x="7880350" y="3727450"/>
            <a:ext cx="114300" cy="114300"/>
          </a:xfrm>
          <a:prstGeom prst="triangle">
            <a:avLst/>
          </a:prstGeom>
          <a:solidFill>
            <a:srgbClr val="B982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3500" y="3822700"/>
            <a:ext cx="3302000" cy="1587500"/>
          </a:xfrm>
          <a:prstGeom prst="rect">
            <a:avLst/>
          </a:prstGeom>
          <a:solidFill>
            <a:srgbClr val="FFFFFF"/>
          </a:solidFill>
          <a:ln w="19050">
            <a:solidFill>
              <a:srgbClr val="DD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19400" y="4000500"/>
            <a:ext cx="28702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16" name="Rectangle 15"/>
          <p:cNvSpPr/>
          <p:nvPr/>
        </p:nvSpPr>
        <p:spPr>
          <a:xfrm>
            <a:off x="2819400" y="4000500"/>
            <a:ext cx="736600" cy="355600"/>
          </a:xfrm>
          <a:prstGeom prst="rect">
            <a:avLst/>
          </a:prstGeom>
          <a:solidFill>
            <a:srgbClr val="B982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5F3ED"/>
                </a:solidFill>
                <a:latin typeface="思源黑体"/>
                <a:ea typeface="思源黑体"/>
              </a:rPr>
              <a:t>常温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19400" y="4457700"/>
            <a:ext cx="28702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50" b="1">
                <a:solidFill>
                  <a:srgbClr val="526D61"/>
                </a:solidFill>
                <a:latin typeface="思源黑体"/>
                <a:ea typeface="思源黑体"/>
              </a:rPr>
              <a:t>Na₂O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19400" y="4902200"/>
            <a:ext cx="2870200" cy="44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>
                <a:solidFill>
                  <a:srgbClr val="8A938F"/>
                </a:solidFill>
                <a:latin typeface="思源黑体"/>
                <a:ea typeface="思源黑体"/>
              </a:rPr>
              <a:t>白色固体；缓慢氧化，表面“蒙尘”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86500" y="3822700"/>
            <a:ext cx="3302000" cy="1587500"/>
          </a:xfrm>
          <a:prstGeom prst="rect">
            <a:avLst/>
          </a:prstGeom>
          <a:solidFill>
            <a:srgbClr val="FFFFFF"/>
          </a:solidFill>
          <a:ln w="19050">
            <a:solidFill>
              <a:srgbClr val="DD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2400" y="4000500"/>
            <a:ext cx="28702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502400" y="4000500"/>
            <a:ext cx="736600" cy="355600"/>
          </a:xfrm>
          <a:prstGeom prst="rect">
            <a:avLst/>
          </a:prstGeom>
          <a:solidFill>
            <a:srgbClr val="B982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5F3ED"/>
                </a:solidFill>
                <a:latin typeface="思源黑体"/>
                <a:ea typeface="思源黑体"/>
              </a:rPr>
              <a:t>点燃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02400" y="4457700"/>
            <a:ext cx="28702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50" b="1">
                <a:solidFill>
                  <a:srgbClr val="526D61"/>
                </a:solidFill>
                <a:latin typeface="思源黑体"/>
                <a:ea typeface="思源黑体"/>
              </a:rPr>
              <a:t>Na₂O₂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02400" y="4902200"/>
            <a:ext cx="2870200" cy="44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>
                <a:solidFill>
                  <a:srgbClr val="8A938F"/>
                </a:solidFill>
                <a:latin typeface="思源黑体"/>
                <a:ea typeface="思源黑体"/>
              </a:rPr>
              <a:t>淡黄色固体；剧烈燃烧，黄色火焰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2000" y="5664200"/>
            <a:ext cx="10668000" cy="698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2000" y="5664200"/>
            <a:ext cx="50800" cy="698500"/>
          </a:xfrm>
          <a:prstGeom prst="rect">
            <a:avLst/>
          </a:prstGeom>
          <a:solidFill>
            <a:srgbClr val="B982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0599" y="5664200"/>
            <a:ext cx="10287000" cy="698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252C2B"/>
                </a:solidFill>
                <a:latin typeface="思源黑体"/>
                <a:ea typeface="思源黑体"/>
              </a:rPr>
              <a:t>同一个反应，</a:t>
            </a:r>
            <a:r>
              <a:rPr sz="1100" b="1">
                <a:solidFill>
                  <a:srgbClr val="B98215"/>
                </a:solidFill>
                <a:latin typeface="思源黑体"/>
                <a:ea typeface="思源黑体"/>
              </a:rPr>
              <a:t>条件决定产物</a:t>
            </a:r>
            <a:r>
              <a:rPr sz="1100" b="0">
                <a:solidFill>
                  <a:srgbClr val="252C2B"/>
                </a:solidFill>
                <a:latin typeface="思源黑体"/>
                <a:ea typeface="思源黑体"/>
              </a:rPr>
              <a:t>——写方程式先看条件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2000" y="6388100"/>
            <a:ext cx="10668000" cy="12700"/>
          </a:xfrm>
          <a:prstGeom prst="rect">
            <a:avLst/>
          </a:prstGeom>
          <a:solidFill>
            <a:srgbClr val="DD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2000" y="6426200"/>
            <a:ext cx="1066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C5C9C6"/>
                </a:solidFill>
                <a:latin typeface="思源黑体"/>
                <a:ea typeface="思源黑体"/>
              </a:rPr>
              <a:t>钠 · Na · 11 号元素 · 碱金属族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406400"/>
            <a:ext cx="5080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526D61"/>
                </a:solidFill>
                <a:latin typeface="思源黑体"/>
                <a:ea typeface="思源黑体"/>
              </a:rPr>
              <a:t>03 · Compounds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90000" y="406400"/>
            <a:ext cx="2540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C5C9C6"/>
                </a:solidFill>
                <a:latin typeface="思源黑体"/>
                <a:ea typeface="思源黑体"/>
              </a:rPr>
              <a:t>10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89000"/>
            <a:ext cx="1066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B98215"/>
                </a:solidFill>
                <a:latin typeface="思源黑体"/>
                <a:ea typeface="思源黑体"/>
              </a:rPr>
              <a:t>TRANSFORMATION 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30300"/>
            <a:ext cx="10668000" cy="82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252C2B"/>
                </a:solidFill>
                <a:latin typeface="思源黑体"/>
                <a:ea typeface="思源黑体"/>
              </a:rPr>
              <a:t>钠的化合物，</a:t>
            </a:r>
            <a:r>
              <a:rPr sz="3200" b="1">
                <a:solidFill>
                  <a:srgbClr val="526D61"/>
                </a:solidFill>
                <a:latin typeface="思源黑体"/>
                <a:ea typeface="思源黑体"/>
              </a:rPr>
              <a:t>转了个圈又回来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641976" y="3035245"/>
            <a:ext cx="1638547" cy="724009"/>
          </a:xfrm>
          <a:prstGeom prst="line">
            <a:avLst/>
          </a:prstGeom>
          <a:ln w="38100">
            <a:solidFill>
              <a:srgbClr val="526D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Isosceles Triangle 7"/>
          <p:cNvSpPr/>
          <p:nvPr/>
        </p:nvSpPr>
        <p:spPr>
          <a:xfrm rot="6830324">
            <a:off x="8217023" y="3695754"/>
            <a:ext cx="127000" cy="127000"/>
          </a:xfrm>
          <a:prstGeom prst="triangle">
            <a:avLst/>
          </a:prstGeom>
          <a:solidFill>
            <a:srgbClr val="526D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60230" y="3157591"/>
            <a:ext cx="139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8A938F"/>
                </a:solidFill>
                <a:latin typeface="思源黑体"/>
                <a:ea typeface="思源黑体"/>
              </a:rPr>
              <a:t>O₂，常温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6641976" y="4241745"/>
            <a:ext cx="1638547" cy="724009"/>
          </a:xfrm>
          <a:prstGeom prst="line">
            <a:avLst/>
          </a:prstGeom>
          <a:ln w="38100">
            <a:solidFill>
              <a:srgbClr val="526D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14769676">
            <a:off x="6578476" y="4902254"/>
            <a:ext cx="127000" cy="127000"/>
          </a:xfrm>
          <a:prstGeom prst="triangle">
            <a:avLst/>
          </a:prstGeom>
          <a:solidFill>
            <a:srgbClr val="526D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0230" y="4538608"/>
            <a:ext cx="139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8A938F"/>
                </a:solidFill>
                <a:latin typeface="思源黑体"/>
                <a:ea typeface="思源黑体"/>
              </a:rPr>
              <a:t>H₂O</a:t>
            </a:r>
          </a:p>
        </p:txBody>
      </p:sp>
      <p:cxnSp>
        <p:nvCxnSpPr>
          <p:cNvPr id="13" name="Connector 12"/>
          <p:cNvCxnSpPr/>
          <p:nvPr/>
        </p:nvCxnSpPr>
        <p:spPr>
          <a:xfrm flipH="1" flipV="1">
            <a:off x="3911476" y="4241745"/>
            <a:ext cx="1638547" cy="724009"/>
          </a:xfrm>
          <a:prstGeom prst="line">
            <a:avLst/>
          </a:prstGeom>
          <a:ln w="38100">
            <a:solidFill>
              <a:srgbClr val="526D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sosceles Triangle 13"/>
          <p:cNvSpPr/>
          <p:nvPr/>
        </p:nvSpPr>
        <p:spPr>
          <a:xfrm rot="17630324">
            <a:off x="3847976" y="4178245"/>
            <a:ext cx="127000" cy="127000"/>
          </a:xfrm>
          <a:prstGeom prst="triangle">
            <a:avLst/>
          </a:prstGeom>
          <a:solidFill>
            <a:srgbClr val="526D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34769" y="4538608"/>
            <a:ext cx="139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8A938F"/>
                </a:solidFill>
                <a:latin typeface="思源黑体"/>
                <a:ea typeface="思源黑体"/>
              </a:rPr>
              <a:t>HCl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3911476" y="3035245"/>
            <a:ext cx="1638547" cy="724009"/>
          </a:xfrm>
          <a:prstGeom prst="line">
            <a:avLst/>
          </a:prstGeom>
          <a:ln w="38100">
            <a:solidFill>
              <a:srgbClr val="526D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3969676">
            <a:off x="5486523" y="2971745"/>
            <a:ext cx="127000" cy="127000"/>
          </a:xfrm>
          <a:prstGeom prst="triangle">
            <a:avLst/>
          </a:prstGeom>
          <a:solidFill>
            <a:srgbClr val="526D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34769" y="3157591"/>
            <a:ext cx="139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8A938F"/>
                </a:solidFill>
                <a:latin typeface="思源黑体"/>
                <a:ea typeface="思源黑体"/>
              </a:rPr>
              <a:t>电解（熔融）</a:t>
            </a:r>
          </a:p>
        </p:txBody>
      </p:sp>
      <p:sp>
        <p:nvSpPr>
          <p:cNvPr id="19" name="Oval 18"/>
          <p:cNvSpPr/>
          <p:nvPr/>
        </p:nvSpPr>
        <p:spPr>
          <a:xfrm>
            <a:off x="5549900" y="2247900"/>
            <a:ext cx="1092200" cy="10922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526D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68900" y="2540000"/>
            <a:ext cx="1854200" cy="50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526D61"/>
                </a:solidFill>
                <a:latin typeface="思源黑体"/>
                <a:ea typeface="思源黑体"/>
              </a:rPr>
              <a:t>Na</a:t>
            </a:r>
          </a:p>
        </p:txBody>
      </p:sp>
      <p:sp>
        <p:nvSpPr>
          <p:cNvPr id="21" name="Oval 20"/>
          <p:cNvSpPr/>
          <p:nvPr/>
        </p:nvSpPr>
        <p:spPr>
          <a:xfrm>
            <a:off x="8280400" y="3454400"/>
            <a:ext cx="1092200" cy="10922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526D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99400" y="3746500"/>
            <a:ext cx="1854200" cy="50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526D61"/>
                </a:solidFill>
                <a:latin typeface="思源黑体"/>
                <a:ea typeface="思源黑体"/>
              </a:rPr>
              <a:t>Na₂O</a:t>
            </a:r>
          </a:p>
        </p:txBody>
      </p:sp>
      <p:sp>
        <p:nvSpPr>
          <p:cNvPr id="23" name="Oval 22"/>
          <p:cNvSpPr/>
          <p:nvPr/>
        </p:nvSpPr>
        <p:spPr>
          <a:xfrm>
            <a:off x="5549900" y="4660900"/>
            <a:ext cx="1092200" cy="10922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526D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68900" y="4953000"/>
            <a:ext cx="1854200" cy="50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526D61"/>
                </a:solidFill>
                <a:latin typeface="思源黑体"/>
                <a:ea typeface="思源黑体"/>
              </a:rPr>
              <a:t>NaOH</a:t>
            </a:r>
          </a:p>
        </p:txBody>
      </p:sp>
      <p:sp>
        <p:nvSpPr>
          <p:cNvPr id="25" name="Oval 24"/>
          <p:cNvSpPr/>
          <p:nvPr/>
        </p:nvSpPr>
        <p:spPr>
          <a:xfrm>
            <a:off x="2819400" y="3454400"/>
            <a:ext cx="1092200" cy="10922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526D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38400" y="3746500"/>
            <a:ext cx="1854200" cy="50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526D61"/>
                </a:solidFill>
                <a:latin typeface="思源黑体"/>
                <a:ea typeface="思源黑体"/>
              </a:rPr>
              <a:t>NaCl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2000" y="6159500"/>
            <a:ext cx="10668000" cy="698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62000" y="6159500"/>
            <a:ext cx="50800" cy="698500"/>
          </a:xfrm>
          <a:prstGeom prst="rect">
            <a:avLst/>
          </a:prstGeom>
          <a:solidFill>
            <a:srgbClr val="B982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0599" y="6159500"/>
            <a:ext cx="10287000" cy="698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B98215"/>
                </a:solidFill>
                <a:latin typeface="思源黑体"/>
                <a:ea typeface="思源黑体"/>
              </a:rPr>
              <a:t>Na → Na₂O → NaOH → NaCl → Na</a:t>
            </a:r>
            <a:r>
              <a:rPr sz="1100" b="0">
                <a:solidFill>
                  <a:srgbClr val="252C2B"/>
                </a:solidFill>
                <a:latin typeface="思源黑体"/>
                <a:ea typeface="思源黑体"/>
              </a:rPr>
              <a:t>——转化成环，工业上走通了闭环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2000" y="6388100"/>
            <a:ext cx="10668000" cy="12700"/>
          </a:xfrm>
          <a:prstGeom prst="rect">
            <a:avLst/>
          </a:prstGeom>
          <a:solidFill>
            <a:srgbClr val="DD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2000" y="6426200"/>
            <a:ext cx="1066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C5C9C6"/>
                </a:solidFill>
                <a:latin typeface="思源黑体"/>
                <a:ea typeface="思源黑体"/>
              </a:rPr>
              <a:t>钠 · Na · 11 号元素 · 碱金属族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