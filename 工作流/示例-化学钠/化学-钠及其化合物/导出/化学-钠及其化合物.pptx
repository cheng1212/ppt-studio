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cover-P1-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500" y="21590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B98215"/>
                </a:solidFill>
                <a:latin typeface="Noto Sans CJK SC"/>
                <a:ea typeface="Noto Sans CJK SC"/>
              </a:rPr>
              <a:t>Sodium &amp; Its Compounds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500" y="2755900"/>
            <a:ext cx="762000" cy="381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500" y="3073400"/>
            <a:ext cx="5715000" cy="17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900" b="1">
                <a:solidFill>
                  <a:srgbClr val="252C2B"/>
                </a:solidFill>
                <a:latin typeface="Noto Sans CJK SC"/>
                <a:ea typeface="Noto Sans CJK SC"/>
              </a:rPr>
              <a:t>钠及其化合物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4914900"/>
            <a:ext cx="5715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0">
                <a:solidFill>
                  <a:srgbClr val="B98215"/>
                </a:solidFill>
                <a:latin typeface="Noto Sans CJK SC"/>
                <a:ea typeface="Noto Sans CJK SC"/>
              </a:rPr>
              <a:t>SODIUM · 活性之源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54229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从活泼金属到多彩化合物 · 探索钠元素的化学世界</a:t>
            </a:r>
          </a:p>
        </p:txBody>
      </p:sp>
      <p:sp>
        <p:nvSpPr>
          <p:cNvPr id="8" name="Rectangle 7"/>
          <p:cNvSpPr/>
          <p:nvPr/>
        </p:nvSpPr>
        <p:spPr>
          <a:xfrm>
            <a:off x="825500" y="6184900"/>
            <a:ext cx="355600" cy="1905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0800" y="60833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高中化学 · 元素化合物专题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500" y="6083300"/>
            <a:ext cx="190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B98215"/>
                </a:solidFill>
                <a:latin typeface="Noto Sans CJK SC"/>
                <a:ea typeface="Noto Sans CJK SC"/>
              </a:rPr>
              <a:t>Na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26D61"/>
                </a:solidFill>
                <a:latin typeface="Noto Sans CJK SC"/>
                <a:ea typeface="Noto Sans CJK SC"/>
              </a:rPr>
              <a:t>Chemistry ·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02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52C2B"/>
                </a:solidFill>
                <a:latin typeface="Noto Sans CJK SC"/>
                <a:ea typeface="Noto Sans CJK SC"/>
              </a:rPr>
              <a:t>学习导航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五个学习任务 · 一条「性质—转化—应用」主线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05000"/>
            <a:ext cx="1066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从认识钠元素，到掌握化合物的性质与应用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84400"/>
            <a:ext cx="1066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B98215"/>
                </a:solidFill>
                <a:latin typeface="Noto Sans CJK SC"/>
                <a:ea typeface="Noto Sans CJK SC"/>
              </a:rPr>
              <a:t>Sodium &amp; Its Compounds · Learning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476500"/>
            <a:ext cx="5251450" cy="1822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a-cube.png"/>
          <p:cNvPicPr>
            <a:picLocks noChangeAspect="1"/>
          </p:cNvPicPr>
          <p:nvPr/>
        </p:nvPicPr>
        <p:blipFill>
          <a:blip r:embed="rId2"/>
          <a:srcRect l="10610" r="10610"/>
          <a:stretch>
            <a:fillRect/>
          </a:stretch>
        </p:blipFill>
        <p:spPr>
          <a:xfrm>
            <a:off x="762000" y="2476500"/>
            <a:ext cx="1905000" cy="1822450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2882900" y="2730500"/>
            <a:ext cx="2921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B98215"/>
                </a:solidFill>
                <a:latin typeface="Noto Sans CJK SC"/>
                <a:ea typeface="Noto Sans CJK SC"/>
              </a:rPr>
              <a:t>01 / 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2900" y="2959100"/>
            <a:ext cx="292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526D61"/>
                </a:solidFill>
                <a:latin typeface="Noto Sans CJK SC"/>
                <a:ea typeface="Noto Sans CJK SC"/>
              </a:rPr>
              <a:t>认识金属钠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2900" y="3314700"/>
            <a:ext cx="2921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物理性质 · 原子结构 · 保存方法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8550" y="2476500"/>
            <a:ext cx="5251450" cy="1822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a-flame.png"/>
          <p:cNvPicPr>
            <a:picLocks noChangeAspect="1"/>
          </p:cNvPicPr>
          <p:nvPr/>
        </p:nvPicPr>
        <p:blipFill>
          <a:blip r:embed="rId3"/>
          <a:srcRect t="2167" b="2167"/>
          <a:stretch>
            <a:fillRect/>
          </a:stretch>
        </p:blipFill>
        <p:spPr>
          <a:xfrm>
            <a:off x="6178550" y="2476500"/>
            <a:ext cx="1905000" cy="1822450"/>
          </a:xfrm>
          <a:prstGeom prst="rect">
            <a:avLst/>
          </a:prstGeom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8299450" y="2730500"/>
            <a:ext cx="2921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B98215"/>
                </a:solidFill>
                <a:latin typeface="Noto Sans CJK SC"/>
                <a:ea typeface="Noto Sans CJK SC"/>
              </a:rPr>
              <a:t>02 / 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450" y="2959100"/>
            <a:ext cx="292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526D61"/>
                </a:solidFill>
                <a:latin typeface="Noto Sans CJK SC"/>
                <a:ea typeface="Noto Sans CJK SC"/>
              </a:rPr>
              <a:t>钠的化学性质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9450" y="3314700"/>
            <a:ext cx="2921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与氧气反应 · 与水反应 · 还原性本质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4464050"/>
            <a:ext cx="5251450" cy="1822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na-compound.png"/>
          <p:cNvPicPr>
            <a:picLocks noChangeAspect="1"/>
          </p:cNvPicPr>
          <p:nvPr/>
        </p:nvPicPr>
        <p:blipFill>
          <a:blip r:embed="rId4"/>
          <a:srcRect t="2167" b="2167"/>
          <a:stretch>
            <a:fillRect/>
          </a:stretch>
        </p:blipFill>
        <p:spPr>
          <a:xfrm>
            <a:off x="762000" y="4464050"/>
            <a:ext cx="1905000" cy="1822450"/>
          </a:xfrm>
          <a:prstGeom prst="rect">
            <a:avLst/>
          </a:prstGeom>
          <a:ln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2882900" y="4718050"/>
            <a:ext cx="2921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B98215"/>
                </a:solidFill>
                <a:latin typeface="Noto Sans CJK SC"/>
                <a:ea typeface="Noto Sans CJK SC"/>
              </a:rPr>
              <a:t>03 / 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2900" y="4946650"/>
            <a:ext cx="292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526D61"/>
                </a:solidFill>
                <a:latin typeface="Noto Sans CJK SC"/>
                <a:ea typeface="Noto Sans CJK SC"/>
              </a:rPr>
              <a:t>钠的重要化合物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2900" y="5302250"/>
            <a:ext cx="2921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氧化钠 · 过氧化钠 · 碳酸钠 · 碳酸氢钠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8550" y="4464050"/>
            <a:ext cx="5251450" cy="1822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ver-bg2.png"/>
          <p:cNvPicPr>
            <a:picLocks noChangeAspect="1"/>
          </p:cNvPicPr>
          <p:nvPr/>
        </p:nvPicPr>
        <p:blipFill>
          <a:blip r:embed="rId5"/>
          <a:srcRect l="20601" r="20601"/>
          <a:stretch>
            <a:fillRect/>
          </a:stretch>
        </p:blipFill>
        <p:spPr>
          <a:xfrm>
            <a:off x="6178550" y="4464050"/>
            <a:ext cx="1905000" cy="1822450"/>
          </a:xfrm>
          <a:prstGeom prst="rect">
            <a:avLst/>
          </a:prstGeom>
          <a:ln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8299450" y="4718050"/>
            <a:ext cx="2921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B98215"/>
                </a:solidFill>
                <a:latin typeface="Noto Sans CJK SC"/>
                <a:ea typeface="Noto Sans CJK SC"/>
              </a:rPr>
              <a:t>04 / 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9450" y="4946650"/>
            <a:ext cx="2921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526D61"/>
                </a:solidFill>
                <a:latin typeface="Noto Sans CJK SC"/>
                <a:ea typeface="Noto Sans CJK SC"/>
              </a:rPr>
              <a:t>实验与应用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9450" y="5302250"/>
            <a:ext cx="2921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焰色反应 · 物质转化 · 典型例题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381000"/>
            <a:ext cx="5080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0" b="0">
                <a:solidFill>
                  <a:srgbClr val="403B27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67000"/>
            <a:ext cx="571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Task One · Discover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111500"/>
            <a:ext cx="762000" cy="381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365500"/>
            <a:ext cx="66675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900" b="1">
                <a:solidFill>
                  <a:srgbClr val="252C2B"/>
                </a:solidFill>
                <a:latin typeface="Noto Sans CJK SC"/>
                <a:ea typeface="Noto Sans CJK SC"/>
              </a:rPr>
              <a:t>认识金属钠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588000"/>
            <a:ext cx="571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5C9C6"/>
                </a:solidFill>
                <a:latin typeface="Noto Sans CJK SC"/>
                <a:ea typeface="Noto Sans CJK SC"/>
              </a:rPr>
              <a:t>它为什么软得能用小刀切开，</a:t>
            </a:r>
            <a:r>
              <a:rPr sz="1700" b="0">
                <a:solidFill>
                  <a:srgbClr val="C5C9C6"/>
                </a:solidFill>
                <a:latin typeface="Noto Sans CJK SC"/>
                <a:ea typeface="Noto Sans CJK SC"/>
              </a:rPr>
              <a:t>又为什么必须住在煤油里？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6184900"/>
            <a:ext cx="355600" cy="1905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7300" y="60833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C5C9C6"/>
                </a:solidFill>
                <a:latin typeface="Noto Sans CJK SC"/>
                <a:ea typeface="Noto Sans CJK SC"/>
              </a:rPr>
              <a:t>物理性质 · 原子结构 · 保存方法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26D61"/>
                </a:solidFill>
                <a:latin typeface="Noto Sans CJK SC"/>
                <a:ea typeface="Noto Sans CJK SC"/>
              </a:rPr>
              <a:t>01 · 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PHYSICAL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52C2B"/>
                </a:solidFill>
                <a:latin typeface="Noto Sans CJK SC"/>
                <a:ea typeface="Noto Sans CJK SC"/>
              </a:rPr>
              <a:t>钠是种「软」金属，</a:t>
            </a:r>
            <a:r>
              <a:rPr sz="3200" b="1">
                <a:solidFill>
                  <a:srgbClr val="526D61"/>
                </a:solidFill>
                <a:latin typeface="Noto Sans CJK SC"/>
                <a:ea typeface="Noto Sans CJK SC"/>
              </a:rPr>
              <a:t>脾气却很急</a:t>
            </a:r>
          </a:p>
        </p:txBody>
      </p:sp>
      <p:pic>
        <p:nvPicPr>
          <p:cNvPr id="7" name="Picture 6" descr="na-cut.png"/>
          <p:cNvPicPr>
            <a:picLocks noChangeAspect="1"/>
          </p:cNvPicPr>
          <p:nvPr/>
        </p:nvPicPr>
        <p:blipFill>
          <a:blip r:embed="rId2"/>
          <a:srcRect t="10000" b="10000"/>
          <a:stretch>
            <a:fillRect/>
          </a:stretch>
        </p:blipFill>
        <p:spPr>
          <a:xfrm>
            <a:off x="762000" y="2095499"/>
            <a:ext cx="4445000" cy="3556000"/>
          </a:xfrm>
          <a:prstGeom prst="rect">
            <a:avLst/>
          </a:prstGeom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889000" y="2222500"/>
            <a:ext cx="3022600" cy="355600"/>
          </a:xfrm>
          <a:prstGeom prst="rect">
            <a:avLst/>
          </a:prstGeom>
          <a:solidFill>
            <a:srgbClr val="252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新切面 </a:t>
            </a: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银白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 · 数秒内变暗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150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小刀可切——正在被切开的金属钠（教学演示）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095499"/>
            <a:ext cx="736600" cy="355600"/>
          </a:xfrm>
          <a:prstGeom prst="rect">
            <a:avLst/>
          </a:prstGeom>
          <a:solidFill>
            <a:srgbClr val="252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颜色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2100" y="2044700"/>
            <a:ext cx="4787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银白色金属光泽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2100" y="2489200"/>
            <a:ext cx="4787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新切面明亮如镜；久置表面迅速变暗——被氧气氧化的第一证据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3048000"/>
            <a:ext cx="5715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3187700"/>
            <a:ext cx="736600" cy="355600"/>
          </a:xfrm>
          <a:prstGeom prst="rect">
            <a:avLst/>
          </a:prstGeom>
          <a:solidFill>
            <a:srgbClr val="526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硬度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2100" y="3136900"/>
            <a:ext cx="4787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质软如蜡，</a:t>
            </a: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小刀可切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2100" y="3581400"/>
            <a:ext cx="4787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金属键弱——「软」是它活泼的第一个线索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4140200"/>
            <a:ext cx="5715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4279900"/>
            <a:ext cx="736600" cy="355600"/>
          </a:xfrm>
          <a:prstGeom prst="rect">
            <a:avLst/>
          </a:prstGeom>
          <a:solidFill>
            <a:srgbClr val="526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密度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2100" y="4229100"/>
            <a:ext cx="4787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0.97 g/cm³，</a:t>
            </a: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比水轻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2100" y="4673600"/>
            <a:ext cx="4787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比煤油重（约 0.8）沉底、比水轻上浮——「浮、熔、游、响、红」的起点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5232400"/>
            <a:ext cx="5715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5372100"/>
            <a:ext cx="736600" cy="355600"/>
          </a:xfrm>
          <a:prstGeom prst="rect">
            <a:avLst/>
          </a:prstGeom>
          <a:solidFill>
            <a:srgbClr val="252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熔点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2100" y="5321300"/>
            <a:ext cx="4787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97.8 ℃，</a:t>
            </a: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熔点低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2100" y="5765800"/>
            <a:ext cx="4787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与水反应放出的热就足以把它熔成闪亮小球；能导电导热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6324600"/>
            <a:ext cx="5715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0" y="6527800"/>
            <a:ext cx="5715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15000" y="6527800"/>
            <a:ext cx="50800" cy="6985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6527800"/>
            <a:ext cx="5334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四条性质互相印证：</a:t>
            </a: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软、轻、低熔点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——都指向「金属键弱、极易反应」同一个结论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钠 · Na · 11 号元素 · 碱金属族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26D61"/>
                </a:solidFill>
                <a:latin typeface="Noto Sans CJK SC"/>
                <a:ea typeface="Noto Sans CJK SC"/>
              </a:rPr>
              <a:t>01 · 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05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ATOMIC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52C2B"/>
                </a:solidFill>
                <a:latin typeface="Noto Sans CJK SC"/>
                <a:ea typeface="Noto Sans CJK SC"/>
              </a:rPr>
              <a:t>最外层只有 1 个电子，</a:t>
            </a:r>
            <a:r>
              <a:rPr sz="3200" b="1">
                <a:solidFill>
                  <a:srgbClr val="526D61"/>
                </a:solidFill>
                <a:latin typeface="Noto Sans CJK SC"/>
                <a:ea typeface="Noto Sans CJK SC"/>
              </a:rPr>
              <a:t>注定“留不住”</a:t>
            </a:r>
          </a:p>
        </p:txBody>
      </p:sp>
      <p:pic>
        <p:nvPicPr>
          <p:cNvPr id="7" name="Picture 6" descr="na-atom.png"/>
          <p:cNvPicPr>
            <a:picLocks noChangeAspect="1"/>
          </p:cNvPicPr>
          <p:nvPr/>
        </p:nvPicPr>
        <p:blipFill>
          <a:blip r:embed="rId2"/>
          <a:srcRect t="10000" b="10000"/>
          <a:stretch>
            <a:fillRect/>
          </a:stretch>
        </p:blipFill>
        <p:spPr>
          <a:xfrm>
            <a:off x="762000" y="2095499"/>
            <a:ext cx="4445000" cy="3556000"/>
          </a:xfrm>
          <a:prstGeom prst="rect">
            <a:avLst/>
          </a:prstGeom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889000" y="2222500"/>
            <a:ext cx="3403600" cy="355600"/>
          </a:xfrm>
          <a:prstGeom prst="rect">
            <a:avLst/>
          </a:prstGeom>
          <a:solidFill>
            <a:srgbClr val="252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最外层 </a:t>
            </a: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1 个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电子 · 极易失去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150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钠原子结构示意图（AI 生成）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095499"/>
            <a:ext cx="736600" cy="355600"/>
          </a:xfrm>
          <a:prstGeom prst="rect">
            <a:avLst/>
          </a:prstGeom>
          <a:solidFill>
            <a:srgbClr val="252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排布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2100" y="2044700"/>
            <a:ext cx="4787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电子层排布 </a:t>
            </a: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2-8-1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2100" y="2489200"/>
            <a:ext cx="4787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K 层 2、L 层 8、M 层 1，三层结构一目了然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3048000"/>
            <a:ext cx="5715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3187700"/>
            <a:ext cx="736600" cy="355600"/>
          </a:xfrm>
          <a:prstGeom prst="rect">
            <a:avLst/>
          </a:prstGeom>
          <a:solidFill>
            <a:srgbClr val="526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半径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2100" y="3136900"/>
            <a:ext cx="4787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原子半径</a:t>
            </a: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大</a:t>
            </a: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，束缚弱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2100" y="3581400"/>
            <a:ext cx="4787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11 号元素电子层数多，最外层电子离核远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4140200"/>
            <a:ext cx="5715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4279900"/>
            <a:ext cx="736600" cy="3556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得失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2100" y="4229100"/>
            <a:ext cx="4787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易</a:t>
            </a: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失去</a:t>
            </a: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 1 个电子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2100" y="4673600"/>
            <a:ext cx="4787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形成 Na⁺——“暴脾气”的结构根源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5232400"/>
            <a:ext cx="5715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5435600"/>
            <a:ext cx="5715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0" y="5435600"/>
            <a:ext cx="50800" cy="6985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435600"/>
            <a:ext cx="5334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结构决定性质：</a:t>
            </a: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最外层 1 电子、极易失去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——后面所有的反应都从这儿开始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钠 · Na · 11 号元素 · 碱金属族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26D61"/>
                </a:solidFill>
                <a:latin typeface="Noto Sans CJK SC"/>
                <a:ea typeface="Noto Sans CJK SC"/>
              </a:rPr>
              <a:t>01 · 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06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52C2B"/>
                </a:solidFill>
                <a:latin typeface="Noto Sans CJK SC"/>
                <a:ea typeface="Noto Sans CJK SC"/>
              </a:rPr>
              <a:t>住在煤油里的金属：</a:t>
            </a:r>
            <a:r>
              <a:rPr sz="3200" b="1">
                <a:solidFill>
                  <a:srgbClr val="526D61"/>
                </a:solidFill>
                <a:latin typeface="Noto Sans CJK SC"/>
                <a:ea typeface="Noto Sans CJK SC"/>
              </a:rPr>
              <a:t>隔绝空气与水</a:t>
            </a:r>
          </a:p>
        </p:txBody>
      </p:sp>
      <p:pic>
        <p:nvPicPr>
          <p:cNvPr id="7" name="Picture 6" descr="na-cut.png"/>
          <p:cNvPicPr>
            <a:picLocks noChangeAspect="1"/>
          </p:cNvPicPr>
          <p:nvPr/>
        </p:nvPicPr>
        <p:blipFill>
          <a:blip r:embed="rId2"/>
          <a:srcRect t="10000" b="10000"/>
          <a:stretch>
            <a:fillRect/>
          </a:stretch>
        </p:blipFill>
        <p:spPr>
          <a:xfrm>
            <a:off x="762000" y="2095499"/>
            <a:ext cx="4445000" cy="3556000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762000" y="57150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试剂瓶中的金属钠：沉在煤油底部，隔绝氧气和水蒸气</a:t>
            </a:r>
          </a:p>
        </p:txBody>
      </p:sp>
      <p:sp>
        <p:nvSpPr>
          <p:cNvPr id="9" name="Oval 8"/>
          <p:cNvSpPr/>
          <p:nvPr/>
        </p:nvSpPr>
        <p:spPr>
          <a:xfrm>
            <a:off x="5715000" y="2095499"/>
            <a:ext cx="457200" cy="457200"/>
          </a:xfrm>
          <a:prstGeom prst="ellipse">
            <a:avLst/>
          </a:prstGeom>
          <a:solidFill>
            <a:srgbClr val="526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F5F3ED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057400"/>
            <a:ext cx="508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52C2B"/>
                </a:solidFill>
                <a:latin typeface="Noto Sans CJK SC"/>
                <a:ea typeface="Noto Sans CJK SC"/>
              </a:rPr>
              <a:t>常温下钠与氧气反应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2425700"/>
            <a:ext cx="5080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4Na + O₂ = 2Na₂O——表面迅速变暗，所以钠不能裸露存放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603500"/>
            <a:ext cx="0" cy="444500"/>
          </a:xfrm>
          <a:prstGeom prst="line">
            <a:avLst/>
          </a:prstGeom>
          <a:ln w="38100">
            <a:solidFill>
              <a:srgbClr val="B982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5892800" y="2997200"/>
            <a:ext cx="101600" cy="101600"/>
          </a:xfrm>
          <a:prstGeom prst="triangle">
            <a:avLst/>
          </a:prstGeom>
          <a:solidFill>
            <a:srgbClr val="B98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15000" y="3162300"/>
            <a:ext cx="457200" cy="457200"/>
          </a:xfrm>
          <a:prstGeom prst="ellipse">
            <a:avLst/>
          </a:prstGeom>
          <a:solidFill>
            <a:srgbClr val="526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F5F3ED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3124200"/>
            <a:ext cx="508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52C2B"/>
                </a:solidFill>
                <a:latin typeface="Noto Sans CJK SC"/>
                <a:ea typeface="Noto Sans CJK SC"/>
              </a:rPr>
              <a:t>钠还能与水剧烈反应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3492500"/>
            <a:ext cx="5080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空气里的水蒸气也足以让它缓慢变质，更不能接触液态水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3670300"/>
            <a:ext cx="0" cy="444500"/>
          </a:xfrm>
          <a:prstGeom prst="line">
            <a:avLst/>
          </a:prstGeom>
          <a:ln w="38100">
            <a:solidFill>
              <a:srgbClr val="B982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5892800" y="4064000"/>
            <a:ext cx="101600" cy="101600"/>
          </a:xfrm>
          <a:prstGeom prst="triangle">
            <a:avLst/>
          </a:prstGeom>
          <a:solidFill>
            <a:srgbClr val="B98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5000" y="4229100"/>
            <a:ext cx="457200" cy="457200"/>
          </a:xfrm>
          <a:prstGeom prst="ellipse">
            <a:avLst/>
          </a:prstGeom>
          <a:solidFill>
            <a:srgbClr val="526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F5F3ED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4190999"/>
            <a:ext cx="508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52C2B"/>
                </a:solidFill>
                <a:latin typeface="Noto Sans CJK SC"/>
                <a:ea typeface="Noto Sans CJK SC"/>
              </a:rPr>
              <a:t>解法：浸在煤油中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4559300"/>
            <a:ext cx="5080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煤油不与钠反应；钠密度（0.97）大于煤油（约 0.8），自然沉底——既隔氧又隔水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5397500"/>
            <a:ext cx="5715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0" y="5397500"/>
            <a:ext cx="50800" cy="6985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397500"/>
            <a:ext cx="5334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安全提示：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取用钠必须用镊子，在玻璃片上用小刀切割，切下的碎块立刻放回煤油；</a:t>
            </a: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严禁用手直接接触，严禁接近水源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密度关系是保存方案的物理依据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26D61"/>
                </a:solidFill>
                <a:latin typeface="Noto Sans CJK SC"/>
                <a:ea typeface="Noto Sans CJK SC"/>
              </a:rPr>
              <a:t>02 ·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07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REACTION WITH OXYGEN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52C2B"/>
                </a:solidFill>
                <a:latin typeface="Noto Sans CJK SC"/>
                <a:ea typeface="Noto Sans CJK SC"/>
              </a:rPr>
              <a:t>空气里几秒就“蒙尘”，</a:t>
            </a:r>
            <a:r>
              <a:rPr sz="3200" b="1">
                <a:solidFill>
                  <a:srgbClr val="526D61"/>
                </a:solidFill>
                <a:latin typeface="Noto Sans CJK SC"/>
                <a:ea typeface="Noto Sans CJK SC"/>
              </a:rPr>
              <a:t>点燃则烈焰相迎</a:t>
            </a:r>
          </a:p>
        </p:txBody>
      </p:sp>
      <p:pic>
        <p:nvPicPr>
          <p:cNvPr id="7" name="Picture 6" descr="na-oxygen.png"/>
          <p:cNvPicPr>
            <a:picLocks noChangeAspect="1"/>
          </p:cNvPicPr>
          <p:nvPr/>
        </p:nvPicPr>
        <p:blipFill>
          <a:blip r:embed="rId2"/>
          <a:srcRect l="15116" r="15116"/>
          <a:stretch>
            <a:fillRect/>
          </a:stretch>
        </p:blipFill>
        <p:spPr>
          <a:xfrm>
            <a:off x="762000" y="2095499"/>
            <a:ext cx="4445000" cy="3556000"/>
          </a:xfrm>
          <a:prstGeom prst="rect">
            <a:avLst/>
          </a:prstGeom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889000" y="2222500"/>
            <a:ext cx="3022600" cy="355600"/>
          </a:xfrm>
          <a:prstGeom prst="rect">
            <a:avLst/>
          </a:prstGeom>
          <a:solidFill>
            <a:srgbClr val="252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点燃 </a:t>
            </a: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黄色火焰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 · 火星四溅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150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钠在氧气中燃烧（AI 生成示意）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095499"/>
            <a:ext cx="736600" cy="355600"/>
          </a:xfrm>
          <a:prstGeom prst="rect">
            <a:avLst/>
          </a:prstGeom>
          <a:solidFill>
            <a:srgbClr val="252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常温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2100" y="2044700"/>
            <a:ext cx="4787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表面迅速</a:t>
            </a: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变暗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2100" y="2489200"/>
            <a:ext cx="4787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4Na + O₂ → 2Na₂O；白色固体，新切面几秒就“蒙尘”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3048000"/>
            <a:ext cx="5715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3187700"/>
            <a:ext cx="736600" cy="355600"/>
          </a:xfrm>
          <a:prstGeom prst="rect">
            <a:avLst/>
          </a:prstGeom>
          <a:solidFill>
            <a:srgbClr val="526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点燃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2100" y="3136900"/>
            <a:ext cx="4787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剧烈燃烧</a:t>
            </a: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 · 黄色火焰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2100" y="3581400"/>
            <a:ext cx="4787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2Na + O₂ → Na₂O₂（点燃）；火星四溅，现象极具辨识度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4140200"/>
            <a:ext cx="5715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4279900"/>
            <a:ext cx="736600" cy="3556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产物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2100" y="4229100"/>
            <a:ext cx="4787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252C2B"/>
                </a:solidFill>
                <a:latin typeface="Noto Sans CJK SC"/>
                <a:ea typeface="Noto Sans CJK SC"/>
              </a:rPr>
              <a:t>Na₂O₂ </a:t>
            </a: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淡黄色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2100" y="4673600"/>
            <a:ext cx="4787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过氧化钠——比氧化钠多一个氧，“胃口”更大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5232400"/>
            <a:ext cx="5715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5435600"/>
            <a:ext cx="5715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0" y="5435600"/>
            <a:ext cx="50800" cy="6985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435600"/>
            <a:ext cx="5334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同一个钠，两种“脾气”：</a:t>
            </a: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常温缓慢氧化、点燃剧烈燃烧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——条件决定产物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钠 · Na · 11 号元素 · 碱金属族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26D61"/>
                </a:solidFill>
                <a:latin typeface="Noto Sans CJK SC"/>
                <a:ea typeface="Noto Sans CJK SC"/>
              </a:rPr>
              <a:t>03 ·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08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SODIUM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52C2B"/>
                </a:solidFill>
                <a:latin typeface="Noto Sans CJK SC"/>
                <a:ea typeface="Noto Sans CJK SC"/>
              </a:rPr>
              <a:t>钠的“化合物家族”，</a:t>
            </a:r>
            <a:r>
              <a:rPr sz="3200" b="1">
                <a:solidFill>
                  <a:srgbClr val="526D61"/>
                </a:solidFill>
                <a:latin typeface="Noto Sans CJK SC"/>
                <a:ea typeface="Noto Sans CJK SC"/>
              </a:rPr>
              <a:t>个个身怀绝技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2000" y="2095499"/>
          <a:ext cx="10667999" cy="3606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9000"/>
                <a:gridCol w="2836333"/>
                <a:gridCol w="2836333"/>
                <a:gridCol w="2836333"/>
              </a:tblGrid>
              <a:tr h="558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5F3ED"/>
                          </a:solidFill>
                          <a:latin typeface="Noto Sans CJK SC"/>
                          <a:ea typeface="Noto Sans CJK SC"/>
                        </a:rPr>
                        <a:t>化合物</a:t>
                      </a:r>
                    </a:p>
                  </a:txBody>
                  <a:tcPr anchor="ctr">
                    <a:solidFill>
                      <a:srgbClr val="526D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5F3ED"/>
                          </a:solidFill>
                          <a:latin typeface="Noto Sans CJK SC"/>
                          <a:ea typeface="Noto Sans CJK SC"/>
                        </a:rPr>
                        <a:t>俗名</a:t>
                      </a:r>
                    </a:p>
                  </a:txBody>
                  <a:tcPr anchor="ctr">
                    <a:solidFill>
                      <a:srgbClr val="526D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5F3ED"/>
                          </a:solidFill>
                          <a:latin typeface="Noto Sans CJK SC"/>
                          <a:ea typeface="Noto Sans CJK SC"/>
                        </a:rPr>
                        <a:t>性状</a:t>
                      </a:r>
                    </a:p>
                  </a:txBody>
                  <a:tcPr anchor="ctr">
                    <a:solidFill>
                      <a:srgbClr val="526D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5F3ED"/>
                          </a:solidFill>
                          <a:latin typeface="Noto Sans CJK SC"/>
                          <a:ea typeface="Noto Sans CJK SC"/>
                        </a:rPr>
                        <a:t>用途</a:t>
                      </a:r>
                    </a:p>
                  </a:txBody>
                  <a:tcPr anchor="ctr">
                    <a:solidFill>
                      <a:srgbClr val="526D6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526D61"/>
                          </a:solidFill>
                          <a:latin typeface="Noto Sans CJK SC"/>
                          <a:ea typeface="Noto Sans CJK SC"/>
                        </a:rPr>
                        <a:t>Na₂O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—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白色固体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钠表面“蒙尘”的真身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526D61"/>
                          </a:solidFill>
                          <a:latin typeface="Noto Sans CJK SC"/>
                          <a:ea typeface="Noto Sans CJK SC"/>
                        </a:rPr>
                        <a:t>Na₂O₂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过氧化钠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526D61"/>
                          </a:solidFill>
                          <a:latin typeface="Noto Sans CJK SC"/>
                          <a:ea typeface="Noto Sans CJK SC"/>
                        </a:rPr>
                        <a:t>淡黄色</a:t>
                      </a: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固体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呼吸面具供氧剂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526D61"/>
                          </a:solidFill>
                          <a:latin typeface="Noto Sans CJK SC"/>
                          <a:ea typeface="Noto Sans CJK SC"/>
                        </a:rPr>
                        <a:t>NaOH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烧碱 / 火碱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白色固体，易潮解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造纸、制皂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526D61"/>
                          </a:solidFill>
                          <a:latin typeface="Noto Sans CJK SC"/>
                          <a:ea typeface="Noto Sans CJK SC"/>
                        </a:rPr>
                        <a:t>Na₂CO₃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纯碱 / 苏打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白色粉末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玻璃、洗涤剂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526D61"/>
                          </a:solidFill>
                          <a:latin typeface="Noto Sans CJK SC"/>
                          <a:ea typeface="Noto Sans CJK SC"/>
                        </a:rPr>
                        <a:t>NaHCO₃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小苏打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白色细小晶体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52C2B"/>
                          </a:solidFill>
                          <a:latin typeface="Noto Sans CJK SC"/>
                          <a:ea typeface="Noto Sans CJK SC"/>
                        </a:rPr>
                        <a:t>发酵粉、灭火器</a:t>
                      </a:r>
                    </a:p>
                  </a:txBody>
                  <a:tcPr anchor="ctr">
                    <a:solidFill>
                      <a:srgbClr val="F5F3E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2000" y="5956300"/>
            <a:ext cx="10668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5956300"/>
            <a:ext cx="50800" cy="6985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599" y="5956300"/>
            <a:ext cx="10287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认全这五位：</a:t>
            </a: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从氧化物到碳酸盐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——钠的化合物撑起半个化工史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钠 · Na · 11 号元素 · 碱金属族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26D61"/>
                </a:solidFill>
                <a:latin typeface="Noto Sans CJK SC"/>
                <a:ea typeface="Noto Sans CJK SC"/>
              </a:rPr>
              <a:t>02 ·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09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CONDITION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52C2B"/>
                </a:solidFill>
                <a:latin typeface="Noto Sans CJK SC"/>
                <a:ea typeface="Noto Sans CJK SC"/>
              </a:rPr>
              <a:t>条件一变，</a:t>
            </a:r>
            <a:r>
              <a:rPr sz="3200" b="1">
                <a:solidFill>
                  <a:srgbClr val="526D61"/>
                </a:solidFill>
                <a:latin typeface="Noto Sans CJK SC"/>
                <a:ea typeface="Noto Sans CJK SC"/>
              </a:rPr>
              <a:t>产物就变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5000" y="2159000"/>
            <a:ext cx="3302000" cy="825500"/>
          </a:xfrm>
          <a:prstGeom prst="rect">
            <a:avLst/>
          </a:prstGeom>
          <a:solidFill>
            <a:srgbClr val="526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5F3ED"/>
                </a:solidFill>
                <a:latin typeface="Noto Sans CJK SC"/>
                <a:ea typeface="Noto Sans CJK SC"/>
              </a:rPr>
              <a:t>钠 + 氧气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5F3ED"/>
                </a:solidFill>
                <a:latin typeface="Noto Sans CJK SC"/>
                <a:ea typeface="Noto Sans CJK SC"/>
              </a:rPr>
              <a:t>同一起点：金属钠遇到氧气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3300" y="2984500"/>
            <a:ext cx="25400" cy="4191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4500" y="3390900"/>
            <a:ext cx="3683000" cy="254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254500" y="3403600"/>
            <a:ext cx="0" cy="381000"/>
          </a:xfrm>
          <a:prstGeom prst="line">
            <a:avLst/>
          </a:prstGeom>
          <a:ln w="38100">
            <a:solidFill>
              <a:srgbClr val="B982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4197350" y="3727450"/>
            <a:ext cx="114300" cy="114300"/>
          </a:xfrm>
          <a:prstGeom prst="triangle">
            <a:avLst/>
          </a:prstGeom>
          <a:solidFill>
            <a:srgbClr val="B98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937500" y="3403600"/>
            <a:ext cx="0" cy="381000"/>
          </a:xfrm>
          <a:prstGeom prst="line">
            <a:avLst/>
          </a:prstGeom>
          <a:ln w="38100">
            <a:solidFill>
              <a:srgbClr val="B982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7880350" y="3727450"/>
            <a:ext cx="114300" cy="114300"/>
          </a:xfrm>
          <a:prstGeom prst="triangle">
            <a:avLst/>
          </a:prstGeom>
          <a:solidFill>
            <a:srgbClr val="B98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3500" y="3822700"/>
            <a:ext cx="3302000" cy="1587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9400" y="4000500"/>
            <a:ext cx="2870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819400" y="4000500"/>
            <a:ext cx="736600" cy="3556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常温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9400" y="4457700"/>
            <a:ext cx="2870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Na₂O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9400" y="4902200"/>
            <a:ext cx="28702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白色固体；缓慢氧化，表面“蒙尘”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6500" y="3822700"/>
            <a:ext cx="3302000" cy="1587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2400" y="4000500"/>
            <a:ext cx="2870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02400" y="4000500"/>
            <a:ext cx="736600" cy="3556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5F3ED"/>
                </a:solidFill>
                <a:latin typeface="Noto Sans CJK SC"/>
                <a:ea typeface="Noto Sans CJK SC"/>
              </a:rPr>
              <a:t>点燃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2400" y="4457700"/>
            <a:ext cx="2870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526D61"/>
                </a:solidFill>
                <a:latin typeface="Noto Sans CJK SC"/>
                <a:ea typeface="Noto Sans CJK SC"/>
              </a:rPr>
              <a:t>Na₂O₂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2400" y="4902200"/>
            <a:ext cx="28702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16E"/>
                </a:solidFill>
                <a:latin typeface="Noto Sans CJK SC"/>
                <a:ea typeface="Noto Sans CJK SC"/>
              </a:rPr>
              <a:t>淡黄色固体；剧烈燃烧，黄色火焰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5664200"/>
            <a:ext cx="10668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" y="5664200"/>
            <a:ext cx="50800" cy="6985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599" y="5664200"/>
            <a:ext cx="10287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同一个反应，</a:t>
            </a: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条件决定产物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——写方程式先看条件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钠 · Na · 11 号元素 · 碱金属族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26D61"/>
                </a:solidFill>
                <a:latin typeface="Noto Sans CJK SC"/>
                <a:ea typeface="Noto Sans CJK SC"/>
              </a:rPr>
              <a:t>03 ·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TRANSFORMATION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52C2B"/>
                </a:solidFill>
                <a:latin typeface="Noto Sans CJK SC"/>
                <a:ea typeface="Noto Sans CJK SC"/>
              </a:rPr>
              <a:t>钠的化合物，</a:t>
            </a:r>
            <a:r>
              <a:rPr sz="3200" b="1">
                <a:solidFill>
                  <a:srgbClr val="526D61"/>
                </a:solidFill>
                <a:latin typeface="Noto Sans CJK SC"/>
                <a:ea typeface="Noto Sans CJK SC"/>
              </a:rPr>
              <a:t>转了个圈又回来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41976" y="3035245"/>
            <a:ext cx="1638547" cy="724009"/>
          </a:xfrm>
          <a:prstGeom prst="line">
            <a:avLst/>
          </a:prstGeom>
          <a:ln w="38100">
            <a:solidFill>
              <a:srgbClr val="526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6830324">
            <a:off x="8217023" y="3695754"/>
            <a:ext cx="127000" cy="127000"/>
          </a:xfrm>
          <a:prstGeom prst="triangle">
            <a:avLst/>
          </a:prstGeom>
          <a:solidFill>
            <a:srgbClr val="526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0230" y="3157591"/>
            <a:ext cx="139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O₂，常温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641976" y="4241745"/>
            <a:ext cx="1638547" cy="724009"/>
          </a:xfrm>
          <a:prstGeom prst="line">
            <a:avLst/>
          </a:prstGeom>
          <a:ln w="38100">
            <a:solidFill>
              <a:srgbClr val="526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4769676">
            <a:off x="6578476" y="4902254"/>
            <a:ext cx="127000" cy="127000"/>
          </a:xfrm>
          <a:prstGeom prst="triangle">
            <a:avLst/>
          </a:prstGeom>
          <a:solidFill>
            <a:srgbClr val="526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0230" y="4538608"/>
            <a:ext cx="139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H₂O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911476" y="4241745"/>
            <a:ext cx="1638547" cy="724009"/>
          </a:xfrm>
          <a:prstGeom prst="line">
            <a:avLst/>
          </a:prstGeom>
          <a:ln w="38100">
            <a:solidFill>
              <a:srgbClr val="526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7630324">
            <a:off x="3847976" y="4178245"/>
            <a:ext cx="127000" cy="127000"/>
          </a:xfrm>
          <a:prstGeom prst="triangle">
            <a:avLst/>
          </a:prstGeom>
          <a:solidFill>
            <a:srgbClr val="526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4769" y="4538608"/>
            <a:ext cx="139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HCl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911476" y="3035245"/>
            <a:ext cx="1638547" cy="724009"/>
          </a:xfrm>
          <a:prstGeom prst="line">
            <a:avLst/>
          </a:prstGeom>
          <a:ln w="38100">
            <a:solidFill>
              <a:srgbClr val="526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3969676">
            <a:off x="5486523" y="2971745"/>
            <a:ext cx="127000" cy="127000"/>
          </a:xfrm>
          <a:prstGeom prst="triangle">
            <a:avLst/>
          </a:prstGeom>
          <a:solidFill>
            <a:srgbClr val="526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4769" y="3157591"/>
            <a:ext cx="1397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16E"/>
                </a:solidFill>
                <a:latin typeface="Noto Sans CJK SC"/>
                <a:ea typeface="Noto Sans CJK SC"/>
              </a:rPr>
              <a:t>电解（熔融）</a:t>
            </a:r>
          </a:p>
        </p:txBody>
      </p:sp>
      <p:sp>
        <p:nvSpPr>
          <p:cNvPr id="19" name="Oval 18"/>
          <p:cNvSpPr/>
          <p:nvPr/>
        </p:nvSpPr>
        <p:spPr>
          <a:xfrm>
            <a:off x="5549900" y="2247900"/>
            <a:ext cx="1092200" cy="1092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26D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8900" y="2540000"/>
            <a:ext cx="18542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526D61"/>
                </a:solidFill>
                <a:latin typeface="Noto Sans CJK SC"/>
                <a:ea typeface="Noto Sans CJK SC"/>
              </a:rPr>
              <a:t>Na</a:t>
            </a:r>
          </a:p>
        </p:txBody>
      </p:sp>
      <p:sp>
        <p:nvSpPr>
          <p:cNvPr id="21" name="Oval 20"/>
          <p:cNvSpPr/>
          <p:nvPr/>
        </p:nvSpPr>
        <p:spPr>
          <a:xfrm>
            <a:off x="8280400" y="3454400"/>
            <a:ext cx="1092200" cy="1092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26D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9400" y="3746500"/>
            <a:ext cx="18542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526D61"/>
                </a:solidFill>
                <a:latin typeface="Noto Sans CJK SC"/>
                <a:ea typeface="Noto Sans CJK SC"/>
              </a:rPr>
              <a:t>Na₂O</a:t>
            </a:r>
          </a:p>
        </p:txBody>
      </p:sp>
      <p:sp>
        <p:nvSpPr>
          <p:cNvPr id="23" name="Oval 22"/>
          <p:cNvSpPr/>
          <p:nvPr/>
        </p:nvSpPr>
        <p:spPr>
          <a:xfrm>
            <a:off x="5549900" y="4660900"/>
            <a:ext cx="1092200" cy="1092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26D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8900" y="4953000"/>
            <a:ext cx="18542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526D61"/>
                </a:solidFill>
                <a:latin typeface="Noto Sans CJK SC"/>
                <a:ea typeface="Noto Sans CJK SC"/>
              </a:rPr>
              <a:t>NaOH</a:t>
            </a:r>
          </a:p>
        </p:txBody>
      </p:sp>
      <p:sp>
        <p:nvSpPr>
          <p:cNvPr id="25" name="Oval 24"/>
          <p:cNvSpPr/>
          <p:nvPr/>
        </p:nvSpPr>
        <p:spPr>
          <a:xfrm>
            <a:off x="2819400" y="3454400"/>
            <a:ext cx="1092200" cy="1092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26D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38400" y="3746500"/>
            <a:ext cx="18542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526D61"/>
                </a:solidFill>
                <a:latin typeface="Noto Sans CJK SC"/>
                <a:ea typeface="Noto Sans CJK SC"/>
              </a:rPr>
              <a:t>NaCl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6159500"/>
            <a:ext cx="10668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2000" y="6159500"/>
            <a:ext cx="50800" cy="698500"/>
          </a:xfrm>
          <a:prstGeom prst="rect">
            <a:avLst/>
          </a:prstGeom>
          <a:solidFill>
            <a:srgbClr val="B98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599" y="6159500"/>
            <a:ext cx="10287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98215"/>
                </a:solidFill>
                <a:latin typeface="Noto Sans CJK SC"/>
                <a:ea typeface="Noto Sans CJK SC"/>
              </a:rPr>
              <a:t>Na → Na₂O → NaOH → NaCl → Na</a:t>
            </a:r>
            <a:r>
              <a:rPr sz="1100" b="0">
                <a:solidFill>
                  <a:srgbClr val="252C2B"/>
                </a:solidFill>
                <a:latin typeface="Noto Sans CJK SC"/>
                <a:ea typeface="Noto Sans CJK SC"/>
              </a:rPr>
              <a:t>——转化成环，工业上走通了闭环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5C9C6"/>
                </a:solidFill>
                <a:latin typeface="Noto Sans CJK SC"/>
                <a:ea typeface="Noto Sans CJK SC"/>
              </a:rPr>
              <a:t>钠 · Na · 11 号元素 · 碱金属族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