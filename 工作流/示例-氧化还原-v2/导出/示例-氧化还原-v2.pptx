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cover-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500" y="21590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CHEMISTRY · GRADE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2755900"/>
            <a:ext cx="7620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3073400"/>
            <a:ext cx="5715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900" b="1">
                <a:solidFill>
                  <a:srgbClr val="1F2A3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4914900"/>
            <a:ext cx="5715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0">
                <a:solidFill>
                  <a:srgbClr val="C0392B"/>
                </a:solidFill>
                <a:latin typeface="Helvetica Neue"/>
                <a:ea typeface="Helvetica Neue"/>
              </a:rPr>
              <a:t>Oxidation-Reduction Reactions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54229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高中化学 · 必修一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500" y="6184900"/>
            <a:ext cx="355600" cy="190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0800" y="60833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500" y="6083300"/>
            <a:ext cx="190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必修一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学完本课，你能做到三件事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286000"/>
            <a:ext cx="34036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286000"/>
            <a:ext cx="3403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2200" y="2616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3149600"/>
            <a:ext cx="27432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E4053"/>
                </a:solidFill>
                <a:latin typeface="Helvetica Neue"/>
                <a:ea typeface="Helvetica Neue"/>
              </a:rPr>
              <a:t>判断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200" y="3937000"/>
            <a:ext cx="2743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从化合价升降的角度识别反应类型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4200" y="2286000"/>
            <a:ext cx="34036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4200" y="2286000"/>
            <a:ext cx="3403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4400" y="2616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149600"/>
            <a:ext cx="27432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E4053"/>
                </a:solidFill>
                <a:latin typeface="Helvetica Neue"/>
                <a:ea typeface="Helvetica Neue"/>
              </a:rPr>
              <a:t>分析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电子转移方向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3937000"/>
            <a:ext cx="2743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指出氧化剂、还原剂及电子得失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6400" y="2286000"/>
            <a:ext cx="34036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6400" y="2286000"/>
            <a:ext cx="3403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6600" y="2616200"/>
            <a:ext cx="736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配平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3149600"/>
            <a:ext cx="27432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E4053"/>
                </a:solidFill>
                <a:latin typeface="Helvetica Neue"/>
                <a:ea typeface="Helvetica Neue"/>
              </a:rPr>
              <a:t>配平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氧化还原方程式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937000"/>
            <a:ext cx="2743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用化合价升降法配平简单方程式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461000"/>
            <a:ext cx="10668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5461000"/>
            <a:ext cx="50800" cy="698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99" y="54610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A33"/>
                </a:solidFill>
                <a:latin typeface="Helvetica Neue"/>
                <a:ea typeface="Helvetica Neue"/>
              </a:rPr>
              <a:t>核心就一句：</a:t>
            </a: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升失氧，降得还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3810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0">
                <a:solidFill>
                  <a:srgbClr val="3C2D32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67000"/>
            <a:ext cx="571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111500"/>
            <a:ext cx="7620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365500"/>
            <a:ext cx="66675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900" b="1">
                <a:solidFill>
                  <a:srgbClr val="1F2A33"/>
                </a:solidFill>
                <a:latin typeface="Helvetica Neue"/>
                <a:ea typeface="Helvetica Neue"/>
              </a:rPr>
              <a:t>认识氧化还原反应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588000"/>
            <a:ext cx="571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3CCD6"/>
                </a:solidFill>
                <a:latin typeface="Helvetica Neue"/>
                <a:ea typeface="Helvetica Neue"/>
              </a:rPr>
              <a:t>从化合价升降看电子转移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184900"/>
            <a:ext cx="355600" cy="190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7300" y="60833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核心概念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氧化还原反应的本质是电子转移</a:t>
            </a:r>
          </a:p>
        </p:txBody>
      </p:sp>
      <p:pic>
        <p:nvPicPr>
          <p:cNvPr id="7" name="Picture 6" descr="P4-img.png"/>
          <p:cNvPicPr>
            <a:picLocks noChangeAspect="1"/>
          </p:cNvPicPr>
          <p:nvPr/>
        </p:nvPicPr>
        <p:blipFill>
          <a:blip r:embed="rId2"/>
          <a:srcRect l="15116" r="15116"/>
          <a:stretch>
            <a:fillRect/>
          </a:stretch>
        </p:blipFill>
        <p:spPr>
          <a:xfrm>
            <a:off x="762000" y="2095499"/>
            <a:ext cx="4445000" cy="3556000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889000" y="2222500"/>
            <a:ext cx="1117600" cy="3556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A33"/>
                </a:solidFill>
                <a:latin typeface="Helvetica Neue"/>
                <a:ea typeface="Helvetica Neue"/>
              </a:rPr>
              <a:t>核心概念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概念图示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2095499"/>
            <a:ext cx="1117600" cy="35560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氧化反应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3100" y="2044700"/>
            <a:ext cx="4406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1F2A33"/>
                </a:solidFill>
                <a:latin typeface="Helvetica Neue"/>
                <a:ea typeface="Helvetica Neue"/>
              </a:rPr>
              <a:t>化合价</a:t>
            </a:r>
            <a:r>
              <a:rPr sz="2250" b="1">
                <a:solidFill>
                  <a:srgbClr val="2E4053"/>
                </a:solidFill>
                <a:latin typeface="Helvetica Neue"/>
                <a:ea typeface="Helvetica Neue"/>
              </a:rPr>
              <a:t>升高</a:t>
            </a:r>
            <a:r>
              <a:rPr sz="2250" b="1">
                <a:solidFill>
                  <a:srgbClr val="1F2A33"/>
                </a:solidFill>
                <a:latin typeface="Helvetica Neue"/>
                <a:ea typeface="Helvetica Neue"/>
              </a:rPr>
              <a:t> → 失去电子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3100" y="2489200"/>
            <a:ext cx="4406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失电子的物质作还原剂，被氧化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3048000"/>
            <a:ext cx="5715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3187700"/>
            <a:ext cx="1117600" cy="355600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还原反应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3100" y="3136900"/>
            <a:ext cx="4406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1F2A33"/>
                </a:solidFill>
                <a:latin typeface="Helvetica Neue"/>
                <a:ea typeface="Helvetica Neue"/>
              </a:rPr>
              <a:t>化合价</a:t>
            </a:r>
            <a:r>
              <a:rPr sz="2250" b="1">
                <a:solidFill>
                  <a:srgbClr val="2E4053"/>
                </a:solidFill>
                <a:latin typeface="Helvetica Neue"/>
                <a:ea typeface="Helvetica Neue"/>
              </a:rPr>
              <a:t>降低</a:t>
            </a:r>
            <a:r>
              <a:rPr sz="2250" b="1">
                <a:solidFill>
                  <a:srgbClr val="1F2A33"/>
                </a:solidFill>
                <a:latin typeface="Helvetica Neue"/>
                <a:ea typeface="Helvetica Neue"/>
              </a:rPr>
              <a:t> → 得到电子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3100" y="3581400"/>
            <a:ext cx="4406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得电子的物质作氧化剂，被还原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0" y="4140200"/>
            <a:ext cx="5715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4279900"/>
            <a:ext cx="11176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对立统一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100" y="4229100"/>
            <a:ext cx="44069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1">
                <a:solidFill>
                  <a:srgbClr val="1F2A33"/>
                </a:solidFill>
                <a:latin typeface="Helvetica Neue"/>
                <a:ea typeface="Helvetica Neue"/>
              </a:rPr>
              <a:t>氧化与还原</a:t>
            </a:r>
            <a:r>
              <a:rPr sz="2250" b="1">
                <a:solidFill>
                  <a:srgbClr val="2E4053"/>
                </a:solidFill>
                <a:latin typeface="Helvetica Neue"/>
                <a:ea typeface="Helvetica Neue"/>
              </a:rPr>
              <a:t>同时发生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3100" y="4673600"/>
            <a:ext cx="44069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有失必有得，转移电子总数相等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5232400"/>
            <a:ext cx="5715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5435600"/>
            <a:ext cx="5715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5435600"/>
            <a:ext cx="50800" cy="698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435600"/>
            <a:ext cx="5334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A33"/>
                </a:solidFill>
                <a:latin typeface="Helvetica Neue"/>
                <a:ea typeface="Helvetica Neue"/>
              </a:rPr>
              <a:t>口诀：</a:t>
            </a: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升失氧，降得还</a:t>
            </a:r>
            <a:r>
              <a:rPr sz="1100" b="0">
                <a:solidFill>
                  <a:srgbClr val="1F2A33"/>
                </a:solidFill>
                <a:latin typeface="Helvetica Neue"/>
                <a:ea typeface="Helvetica Neue"/>
              </a:rPr>
              <a:t>；剂性相反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探究实验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实验探究：锌片插入硫酸铜溶液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349500"/>
            <a:ext cx="2540000" cy="2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6800" y="2654300"/>
            <a:ext cx="546100" cy="355600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插入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将打磨光亮的锌片插入蓝色 CuSO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4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溶液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3000" y="2349500"/>
            <a:ext cx="2540000" cy="2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87799" y="2654300"/>
            <a:ext cx="546100" cy="355600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7799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观察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7799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锌片表面析出</a:t>
            </a: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红色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固体，溶液蓝色变浅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4000" y="2349500"/>
            <a:ext cx="2540000" cy="2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8800" y="2654300"/>
            <a:ext cx="546100" cy="355600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8800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8800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Zn → Zn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2+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化合价升高；Cu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2+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→ Cu 化合价降低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25000" y="2349500"/>
            <a:ext cx="2540000" cy="25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2654300"/>
            <a:ext cx="546100" cy="355600"/>
          </a:xfrm>
          <a:prstGeom prst="rect">
            <a:avLst/>
          </a:prstGeom>
          <a:solidFill>
            <a:srgbClr val="2E4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213100"/>
            <a:ext cx="1930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784600"/>
            <a:ext cx="19304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Zn + CuSO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4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= ZnSO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4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+ Cu，是置换型的氧化还原反应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5461000"/>
            <a:ext cx="10668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5461000"/>
            <a:ext cx="50800" cy="698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599" y="54610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A33"/>
                </a:solidFill>
                <a:latin typeface="Helvetica Neue"/>
                <a:ea typeface="Helvetica Neue"/>
              </a:rPr>
              <a:t>锌片须先用砂纸打磨，除去表面氧化膜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实验数据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一次转移 4 个电子：燃烧最剧烈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pic>
        <p:nvPicPr>
          <p:cNvPr id="9" name="Picture 8" descr="P6-chart.png"/>
          <p:cNvPicPr>
            <a:picLocks noChangeAspect="1"/>
          </p:cNvPicPr>
          <p:nvPr/>
        </p:nvPicPr>
        <p:blipFill>
          <a:blip r:embed="rId2"/>
          <a:srcRect l="555" r="555"/>
          <a:stretch>
            <a:fillRect/>
          </a:stretch>
        </p:blipFill>
        <p:spPr>
          <a:xfrm>
            <a:off x="609600" y="1905000"/>
            <a:ext cx="6858000" cy="3873499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7874000" y="1905000"/>
            <a:ext cx="3708400" cy="3873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0" y="2159000"/>
            <a:ext cx="3200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2A33"/>
                </a:solidFill>
                <a:latin typeface="Helvetica Neue"/>
                <a:ea typeface="Helvetica Neue"/>
              </a:rPr>
              <a:t>C+O₂断层领先，超第二名100%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0" y="3048000"/>
            <a:ext cx="3073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C+O₂ 4，Zn+CuSO₄ 2，差距拉开100%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0" y="3429000"/>
            <a:ext cx="3073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共4类，总计10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381000"/>
            <a:ext cx="5080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0">
                <a:solidFill>
                  <a:srgbClr val="3C2D32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67000"/>
            <a:ext cx="5715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111500"/>
            <a:ext cx="7620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365500"/>
            <a:ext cx="66675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900" b="1">
                <a:solidFill>
                  <a:srgbClr val="1F2A33"/>
                </a:solidFill>
                <a:latin typeface="Helvetica Neue"/>
                <a:ea typeface="Helvetica Neue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588000"/>
            <a:ext cx="5715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3CCD6"/>
                </a:solidFill>
                <a:latin typeface="Helvetica Neue"/>
                <a:ea typeface="Helvetica Neue"/>
              </a:rPr>
              <a:t>学以致用，检验学习目标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6184900"/>
            <a:ext cx="355600" cy="190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7300" y="60833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练一练：你能答对吗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286000"/>
            <a:ext cx="34036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2286000"/>
            <a:ext cx="3403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2200" y="2616200"/>
            <a:ext cx="13081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第 1 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3149600"/>
            <a:ext cx="27432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下列反应中，属于氧化还原反应的是（ 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200" y="3937000"/>
            <a:ext cx="2743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A. CaCO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3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→ CaO + CO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↑　B. Zn + H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SO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4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= ZnSO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4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 + H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↑　C. NaOH + HCl = NaCl + H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2</a:t>
            </a: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O　提示：看化合价变不变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4200" y="2286000"/>
            <a:ext cx="34036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4200" y="2286000"/>
            <a:ext cx="3403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4400" y="2616200"/>
            <a:ext cx="13081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第 2 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149600"/>
            <a:ext cx="27432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反应 CuO + H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2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 → Cu + H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2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O 中，氧化剂是____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3937000"/>
            <a:ext cx="2743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提示：得电子、化合价降低的物质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6400" y="2286000"/>
            <a:ext cx="34036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6400" y="2286000"/>
            <a:ext cx="3403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56600" y="2616200"/>
            <a:ext cx="1308100" cy="355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4F6F8"/>
                </a:solidFill>
                <a:latin typeface="Helvetica Neue"/>
                <a:ea typeface="Helvetica Neue"/>
              </a:rPr>
              <a:t>第 3 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3149600"/>
            <a:ext cx="27432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用双线桥标出 2Na + Cl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2</a:t>
            </a:r>
            <a:r>
              <a:rPr sz="1700" b="1">
                <a:solidFill>
                  <a:srgbClr val="1F2A33"/>
                </a:solidFill>
                <a:latin typeface="Helvetica Neue"/>
                <a:ea typeface="Helvetica Neue"/>
              </a:rPr>
              <a:t> → 2NaCl 的电子转移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600" y="3937000"/>
            <a:ext cx="2743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提示：Na：0→+1 失电子；Cl：0→−1 得电子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5461000"/>
            <a:ext cx="10668000" cy="69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5461000"/>
            <a:ext cx="50800" cy="6985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99" y="5461000"/>
            <a:ext cx="10287000" cy="698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A33"/>
                </a:solidFill>
                <a:latin typeface="Helvetica Neue"/>
                <a:ea typeface="Helvetica Neue"/>
              </a:rPr>
              <a:t>先想一想：</a:t>
            </a: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化合价变了没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406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氧化还原反应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0" y="4064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89000"/>
            <a:ext cx="1066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  <a:latin typeface="Helvetica Neue"/>
                <a:ea typeface="Helvetica Neue"/>
              </a:rPr>
              <a:t>本课小结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30300"/>
            <a:ext cx="10668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三句话带走本课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6388100"/>
            <a:ext cx="10668000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2620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3CCD6"/>
                </a:solidFill>
                <a:latin typeface="Helvetica Neue"/>
                <a:ea typeface="Helvetica Neue"/>
              </a:rPr>
              <a:t>化学组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032000"/>
            <a:ext cx="3556000" cy="241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413000"/>
            <a:ext cx="2997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C0392B"/>
                </a:solidFill>
                <a:latin typeface="Helvetica Neue"/>
                <a:ea typeface="Helvetica Neue"/>
              </a:rPr>
              <a:t>升失氧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238500"/>
            <a:ext cx="2997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氧化反应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3556000"/>
            <a:ext cx="2997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化合价升高 · 失电子 · 被氧化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2032000"/>
            <a:ext cx="3556000" cy="241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413000"/>
            <a:ext cx="2997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C0392B"/>
                </a:solidFill>
                <a:latin typeface="Helvetica Neue"/>
                <a:ea typeface="Helvetica Neue"/>
              </a:rPr>
              <a:t>降得还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238500"/>
            <a:ext cx="2997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还原反应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556000"/>
            <a:ext cx="2997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化合价降低 · 得电子 · 被还原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032000"/>
            <a:ext cx="3556000" cy="241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7400" y="2413000"/>
            <a:ext cx="2997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C0392B"/>
                </a:solidFill>
                <a:latin typeface="Helvetica Neue"/>
                <a:ea typeface="Helvetica Neue"/>
              </a:rPr>
              <a:t>剂性反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7400" y="3238500"/>
            <a:ext cx="2997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氧化剂 / 还原剂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7400" y="3556000"/>
            <a:ext cx="2997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E4053"/>
                </a:solidFill>
                <a:latin typeface="Helvetica Neue"/>
                <a:ea typeface="Helvetica Neue"/>
              </a:rPr>
              <a:t>得电子的是氧化剂，失电子的是还原剂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