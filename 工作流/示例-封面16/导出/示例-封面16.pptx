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cover-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500" y="21590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SMART EV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500" y="2755900"/>
            <a:ext cx="7620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5500" y="3073400"/>
            <a:ext cx="571500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5900" b="1">
                <a:solidFill>
                  <a:srgbClr val="1F2A33"/>
                </a:solidFill>
                <a:latin typeface="Helvetica Neue"/>
                <a:ea typeface="Helvetica Neue"/>
              </a:rPr>
              <a:t>未来出行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4914900"/>
            <a:ext cx="5715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0">
                <a:solidFill>
                  <a:srgbClr val="C0392B"/>
                </a:solidFill>
                <a:latin typeface="Helvetica Neue"/>
                <a:ea typeface="Helvetica Neue"/>
              </a:rPr>
              <a:t>The Future of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54229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</a:t>
            </a:r>
          </a:p>
        </p:txBody>
      </p:sp>
      <p:sp>
        <p:nvSpPr>
          <p:cNvPr id="8" name="Rectangle 7"/>
          <p:cNvSpPr/>
          <p:nvPr/>
        </p:nvSpPr>
        <p:spPr>
          <a:xfrm>
            <a:off x="825500" y="6184900"/>
            <a:ext cx="355600" cy="190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0800" y="60833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1500" y="6083300"/>
            <a:ext cx="190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8-img.png"/>
          <p:cNvPicPr>
            <a:picLocks noChangeAspect="1"/>
          </p:cNvPicPr>
          <p:nvPr/>
        </p:nvPicPr>
        <p:blipFill>
          <a:blip r:embed="rId2"/>
          <a:srcRect l="26296" r="26296"/>
          <a:stretch>
            <a:fillRect/>
          </a:stretch>
        </p:blipFill>
        <p:spPr>
          <a:xfrm>
            <a:off x="7315200" y="0"/>
            <a:ext cx="4876800" cy="6858000"/>
          </a:xfrm>
          <a:prstGeom prst="rect">
            <a:avLst/>
          </a:prstGeom>
          <a:ln>
            <a:noFill/>
          </a:ln>
        </p:spPr>
      </p:pic>
      <p:cxnSp>
        <p:nvCxnSpPr>
          <p:cNvPr id="4" name="Connector 3"/>
          <p:cNvCxnSpPr/>
          <p:nvPr/>
        </p:nvCxnSpPr>
        <p:spPr>
          <a:xfrm>
            <a:off x="7315200" y="762000"/>
            <a:ext cx="0" cy="533400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10800000">
            <a:off x="7315200" y="60960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270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0392B"/>
                </a:solidFill>
                <a:latin typeface="Helvetica Neue"/>
                <a:ea typeface="Helvetica Neu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51000"/>
            <a:ext cx="5715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谢谢观看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83000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Drive the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90999"/>
            <a:ext cx="571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23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62230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0392B"/>
                </a:solidFill>
                <a:latin typeface="Helvetica Neue"/>
                <a:ea typeface="Helvetica Neue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5500" y="1905000"/>
            <a:ext cx="762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SMART EV ·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5500" y="2336800"/>
            <a:ext cx="533400" cy="0"/>
          </a:xfrm>
          <a:prstGeom prst="line">
            <a:avLst/>
          </a:prstGeom>
          <a:ln w="508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1358900" y="23368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500" y="2540000"/>
            <a:ext cx="9525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电动车的</a:t>
            </a:r>
            <a:r>
              <a:rPr sz="3200" b="1">
                <a:solidFill>
                  <a:srgbClr val="C0392B"/>
                </a:solidFill>
                <a:latin typeface="Helvetica Neue"/>
                <a:ea typeface="Helvetica Neue"/>
              </a:rPr>
              <a:t>时代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4318000"/>
            <a:ext cx="762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C0392B"/>
                </a:solidFill>
                <a:latin typeface="Helvetica Neue"/>
                <a:ea typeface="Helvetica Neue"/>
              </a:rPr>
              <a:t>The EV 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47625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62230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5000" y="62230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762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FUTURE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2730500"/>
            <a:ext cx="9525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少即是多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92800" y="3810000"/>
            <a:ext cx="406400" cy="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6299200" y="38100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0640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 · 2026 年度发布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62230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5500" y="2286000"/>
            <a:ext cx="482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FLAGSHIP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5500" y="2717800"/>
            <a:ext cx="533400" cy="0"/>
          </a:xfrm>
          <a:prstGeom prst="line">
            <a:avLst/>
          </a:prstGeom>
          <a:ln w="508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1358900" y="27178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500" y="2921000"/>
            <a:ext cx="4826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旗舰轿车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4762500"/>
            <a:ext cx="4826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一眼心动，一见倾心</a:t>
            </a:r>
          </a:p>
        </p:txBody>
      </p:sp>
      <p:pic>
        <p:nvPicPr>
          <p:cNvPr id="8" name="Picture 7" descr="P6-img.png"/>
          <p:cNvPicPr>
            <a:picLocks noChangeAspect="1"/>
          </p:cNvPicPr>
          <p:nvPr/>
        </p:nvPicPr>
        <p:blipFill>
          <a:blip r:embed="rId2"/>
          <a:srcRect l="14815" r="14815"/>
          <a:stretch>
            <a:fillRect/>
          </a:stretch>
        </p:blipFill>
        <p:spPr>
          <a:xfrm>
            <a:off x="6540500" y="1143000"/>
            <a:ext cx="4826000" cy="4572000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825500" y="6223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5000" y="62230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F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-bg.png"/>
          <p:cNvPicPr>
            <a:picLocks noChangeAspect="1"/>
          </p:cNvPicPr>
          <p:nvPr/>
        </p:nvPicPr>
        <p:blipFill>
          <a:blip r:embed="rId2"/>
          <a:srcRect l="25556" r="25556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762000" y="2286000"/>
            <a:ext cx="406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SMART EV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94000"/>
            <a:ext cx="4064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4F6F8"/>
                </a:solidFill>
                <a:latin typeface="Helvetica Neue"/>
                <a:ea typeface="Helvetica Neue"/>
              </a:rPr>
              <a:t>双色之美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508500"/>
            <a:ext cx="4064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4F6F8"/>
                </a:solidFill>
                <a:latin typeface="Helvetica Neue"/>
                <a:ea typeface="Helvetica Neue"/>
              </a:rPr>
              <a:t>品牌色 × 影像，一眼即品牌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223000"/>
            <a:ext cx="406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-bg.png"/>
          <p:cNvPicPr>
            <a:picLocks noChangeAspect="1"/>
          </p:cNvPicPr>
          <p:nvPr/>
        </p:nvPicPr>
        <p:blipFill>
          <a:blip r:embed="rId2"/>
          <a:srcRect t="20833" b="20833"/>
          <a:stretch>
            <a:fillRect/>
          </a:stretch>
        </p:blipFill>
        <p:spPr>
          <a:xfrm>
            <a:off x="0" y="0"/>
            <a:ext cx="12192000" cy="3556000"/>
          </a:xfrm>
          <a:prstGeom prst="rect">
            <a:avLst/>
          </a:prstGeom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3556000"/>
            <a:ext cx="12192000" cy="3302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445000" y="0"/>
            <a:ext cx="1835150" cy="6858000"/>
          </a:xfrm>
          <a:prstGeom prst="line">
            <a:avLst/>
          </a:prstGeom>
          <a:ln w="508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9901144">
            <a:off x="6280150" y="68580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4064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SPEED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4508500"/>
            <a:ext cx="63500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速度与未来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5715000"/>
            <a:ext cx="635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为快而生，向未来而行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62865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0" y="-1270000"/>
            <a:ext cx="5715000" cy="939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667500" y="1270000"/>
            <a:ext cx="5524500" cy="0"/>
          </a:xfrm>
          <a:prstGeom prst="line">
            <a:avLst/>
          </a:prstGeom>
          <a:ln w="381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12192000" y="12700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500" y="2286000"/>
            <a:ext cx="5207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FUTURE MOBILITY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794000"/>
            <a:ext cx="5207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4635500"/>
            <a:ext cx="520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智能电动汽车年度技术发布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6223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5842000"/>
            <a:ext cx="190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8-img.png"/>
          <p:cNvPicPr>
            <a:picLocks noChangeAspect="1"/>
          </p:cNvPicPr>
          <p:nvPr/>
        </p:nvPicPr>
        <p:blipFill>
          <a:blip r:embed="rId2"/>
          <a:srcRect l="14444" r="14444"/>
          <a:stretch>
            <a:fillRect/>
          </a:stretch>
        </p:blipFill>
        <p:spPr>
          <a:xfrm>
            <a:off x="4876800" y="0"/>
            <a:ext cx="731520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381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VOL.2026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40000"/>
            <a:ext cx="698500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未来出行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300" y="4508500"/>
            <a:ext cx="4445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F2A33"/>
                </a:solidFill>
                <a:latin typeface="Helvetica Neue"/>
                <a:ea typeface="Helvetica Neue"/>
              </a:rPr>
              <a:t>年度旗舰 · 1020km 超长续航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300" y="4864100"/>
            <a:ext cx="4445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F2A33"/>
                </a:solidFill>
                <a:latin typeface="Helvetica Neue"/>
                <a:ea typeface="Helvetica Neue"/>
              </a:rPr>
              <a:t>城市 NOA · 全量推送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300" y="5219700"/>
            <a:ext cx="4445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F2A33"/>
                </a:solidFill>
                <a:latin typeface="Helvetica Neue"/>
                <a:ea typeface="Helvetica Neue"/>
              </a:rPr>
              <a:t>800V 高压 · 充电 10 分钟补 400km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0"/>
            <a:ext cx="444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智能电动汽车年度特刊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286500"/>
            <a:ext cx="381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0999" y="2413000"/>
            <a:ext cx="381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C0392B"/>
                </a:solidFill>
                <a:latin typeface="Helvetica Neue"/>
                <a:ea typeface="Helvetica Neue"/>
              </a:rPr>
              <a:t>PRIVATE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857500"/>
            <a:ext cx="7620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F4F1EA"/>
                </a:solidFill>
                <a:latin typeface="Helvetica Neue"/>
                <a:ea typeface="Helvetica Neue"/>
              </a:rPr>
              <a:t>曜夜旗舰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29300" y="4064000"/>
            <a:ext cx="533400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6362700" y="40640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0999" y="4216400"/>
            <a:ext cx="381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0392B"/>
                </a:solidFill>
                <a:latin typeface="Helvetica Neue"/>
                <a:ea typeface="Helvetica Neue"/>
              </a:rPr>
              <a:t>Noir Flagship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6000" y="4597400"/>
            <a:ext cx="508000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8A29A"/>
                </a:solidFill>
                <a:latin typeface="Helvetica Neue"/>
                <a:ea typeface="Helvetica Neue"/>
              </a:rPr>
              <a:t>仅以此夜，敬未来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0" y="6286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E6A63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5500" y="2286000"/>
            <a:ext cx="3937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SMART EV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2794000"/>
            <a:ext cx="3937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多面未来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3937000"/>
            <a:ext cx="3937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城市 / 充电 / 座舱 / 远方</a:t>
            </a:r>
          </a:p>
        </p:txBody>
      </p:sp>
      <p:pic>
        <p:nvPicPr>
          <p:cNvPr id="6" name="Picture 5" descr="P1-bg.png"/>
          <p:cNvPicPr>
            <a:picLocks noChangeAspect="1"/>
          </p:cNvPicPr>
          <p:nvPr/>
        </p:nvPicPr>
        <p:blipFill>
          <a:blip r:embed="rId2"/>
          <a:srcRect l="19444" r="19444"/>
          <a:stretch>
            <a:fillRect/>
          </a:stretch>
        </p:blipFill>
        <p:spPr>
          <a:xfrm>
            <a:off x="6413500" y="1143000"/>
            <a:ext cx="2794000" cy="2286000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P18-img.png"/>
          <p:cNvPicPr>
            <a:picLocks noChangeAspect="1"/>
          </p:cNvPicPr>
          <p:nvPr/>
        </p:nvPicPr>
        <p:blipFill>
          <a:blip r:embed="rId3"/>
          <a:srcRect l="9259" r="9259"/>
          <a:stretch>
            <a:fillRect/>
          </a:stretch>
        </p:blipFill>
        <p:spPr>
          <a:xfrm>
            <a:off x="9334500" y="1143000"/>
            <a:ext cx="2794000" cy="2286000"/>
          </a:xfrm>
          <a:prstGeom prst="rect">
            <a:avLst/>
          </a:prstGeom>
          <a:ln>
            <a:noFill/>
          </a:ln>
        </p:spPr>
      </p:pic>
      <p:pic>
        <p:nvPicPr>
          <p:cNvPr id="8" name="Picture 7" descr="P2-img.png"/>
          <p:cNvPicPr>
            <a:picLocks noChangeAspect="1"/>
          </p:cNvPicPr>
          <p:nvPr/>
        </p:nvPicPr>
        <p:blipFill>
          <a:blip r:embed="rId4"/>
          <a:srcRect l="9259" r="9259"/>
          <a:stretch>
            <a:fillRect/>
          </a:stretch>
        </p:blipFill>
        <p:spPr>
          <a:xfrm>
            <a:off x="6413500" y="3556000"/>
            <a:ext cx="2794000" cy="2286000"/>
          </a:xfrm>
          <a:prstGeom prst="rect">
            <a:avLst/>
          </a:prstGeom>
          <a:ln>
            <a:noFill/>
          </a:ln>
        </p:spPr>
      </p:pic>
      <p:pic>
        <p:nvPicPr>
          <p:cNvPr id="9" name="Picture 8" descr="P6-img.png"/>
          <p:cNvPicPr>
            <a:picLocks noChangeAspect="1"/>
          </p:cNvPicPr>
          <p:nvPr/>
        </p:nvPicPr>
        <p:blipFill>
          <a:blip r:embed="rId5"/>
          <a:srcRect l="9259" r="9259"/>
          <a:stretch>
            <a:fillRect/>
          </a:stretch>
        </p:blipFill>
        <p:spPr>
          <a:xfrm>
            <a:off x="9334500" y="3556000"/>
            <a:ext cx="2794000" cy="228600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825500" y="6223000"/>
            <a:ext cx="381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6-img.png"/>
          <p:cNvPicPr>
            <a:picLocks noChangeAspect="1"/>
          </p:cNvPicPr>
          <p:nvPr/>
        </p:nvPicPr>
        <p:blipFill>
          <a:blip r:embed="rId2"/>
          <a:srcRect l="12346" r="12346"/>
          <a:stretch>
            <a:fillRect/>
          </a:stretch>
        </p:blipFill>
        <p:spPr>
          <a:xfrm>
            <a:off x="4445000" y="0"/>
            <a:ext cx="7746999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825500" y="2413000"/>
            <a:ext cx="406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2921000"/>
            <a:ext cx="4064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细节之美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4762500"/>
            <a:ext cx="4064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把每一处线条，都做到极致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6223000"/>
            <a:ext cx="381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24000"/>
            <a:ext cx="6985000" cy="17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0" b="1">
                <a:solidFill>
                  <a:srgbClr val="C0392B"/>
                </a:solidFill>
                <a:latin typeface="Helvetica Neue"/>
                <a:ea typeface="Helvetica Neue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3556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SMART 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3937000"/>
            <a:ext cx="69850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未来出行元年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48895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这一年，电动化成为必答题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62230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-bg.png"/>
          <p:cNvPicPr>
            <a:picLocks noChangeAspect="1"/>
          </p:cNvPicPr>
          <p:nvPr/>
        </p:nvPicPr>
        <p:blipFill>
          <a:blip r:embed="rId2"/>
          <a:srcRect l="5556" r="555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P9-img.png"/>
          <p:cNvPicPr>
            <a:picLocks noChangeAspect="1"/>
          </p:cNvPicPr>
          <p:nvPr/>
        </p:nvPicPr>
        <p:blipFill>
          <a:blip r:embed="rId3">
            <a:alphaModFix amt="55000"/>
          </a:blip>
          <a:srcRect l="20370" r="2037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571500" y="3810000"/>
            <a:ext cx="5080000" cy="2540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500" y="412750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SMART EV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4508500"/>
            <a:ext cx="4572000" cy="1079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F2A33"/>
                </a:solidFill>
                <a:latin typeface="Helvetica Neue"/>
                <a:ea typeface="Helvetica Neue"/>
              </a:rPr>
              <a:t>人 · 车 · 城市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571500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当科技融入生活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6286500"/>
            <a:ext cx="381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2-img.png"/>
          <p:cNvPicPr>
            <a:picLocks noChangeAspect="1"/>
          </p:cNvPicPr>
          <p:nvPr/>
        </p:nvPicPr>
        <p:blipFill>
          <a:blip r:embed="rId2"/>
          <a:srcRect t="32422" b="32422"/>
          <a:stretch>
            <a:fillRect/>
          </a:stretch>
        </p:blipFill>
        <p:spPr>
          <a:xfrm>
            <a:off x="0" y="0"/>
            <a:ext cx="12192000" cy="2857500"/>
          </a:xfrm>
          <a:prstGeom prst="rect">
            <a:avLst/>
          </a:prstGeom>
          <a:ln>
            <a:noFill/>
          </a:ln>
        </p:spPr>
      </p:pic>
      <p:cxnSp>
        <p:nvCxnSpPr>
          <p:cNvPr id="4" name="Connector 3"/>
          <p:cNvCxnSpPr/>
          <p:nvPr/>
        </p:nvCxnSpPr>
        <p:spPr>
          <a:xfrm>
            <a:off x="0" y="2857500"/>
            <a:ext cx="12192000" cy="0"/>
          </a:xfrm>
          <a:prstGeom prst="line">
            <a:avLst/>
          </a:prstGeom>
          <a:ln w="508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 rot="5400000">
            <a:off x="12192000" y="2857500"/>
            <a:ext cx="0" cy="0"/>
          </a:xfrm>
          <a:prstGeom prst="triangl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500" y="3556000"/>
            <a:ext cx="762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C0392B"/>
                </a:solidFill>
                <a:latin typeface="Helvetica Neue"/>
                <a:ea typeface="Helvetica Neue"/>
              </a:rPr>
              <a:t>SMART EV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4000500"/>
            <a:ext cx="8255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F2A33"/>
                </a:solidFill>
                <a:latin typeface="Helvetica Neue"/>
                <a:ea typeface="Helvetica Neue"/>
              </a:rPr>
              <a:t>年度技术发布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5080000"/>
            <a:ext cx="8255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A727B"/>
                </a:solidFill>
                <a:latin typeface="Helvetica Neue"/>
                <a:ea typeface="Helvetica Neue"/>
              </a:rPr>
              <a:t>电池 / 智能 / 补能，三大技术一次讲透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62865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5500" y="1778000"/>
            <a:ext cx="635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A727B"/>
                </a:solidFill>
                <a:latin typeface="Helvetica Neue"/>
                <a:ea typeface="Helvetica Neue"/>
              </a:rPr>
              <a:t>甲辰年 · 未来出行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2286000"/>
            <a:ext cx="79375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1F2A33"/>
                </a:solidFill>
                <a:latin typeface="Helvetica Neue"/>
                <a:ea typeface="Helvetica Neue"/>
              </a:rPr>
              <a:t>未来出行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8445500" y="2540000"/>
            <a:ext cx="660400" cy="660400"/>
          </a:xfrm>
          <a:prstGeom prst="rect">
            <a:avLst/>
          </a:prstGeom>
          <a:solidFill>
            <a:srgbClr val="A93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45500" y="2540000"/>
            <a:ext cx="6604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7F3E8"/>
                </a:solidFill>
                <a:latin typeface="Helvetica Neue"/>
                <a:ea typeface="Helvetica Neue"/>
              </a:rPr>
              <a:t>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3810000"/>
            <a:ext cx="698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F2A33"/>
                </a:solidFill>
                <a:latin typeface="Helvetica Neue"/>
                <a:ea typeface="Helvetica Neue"/>
              </a:rPr>
              <a:t>智能电动汽车年度技术发布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62230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A727B"/>
                </a:solidFill>
                <a:latin typeface="Helvetica Neue"/>
                <a:ea typeface="Helvetica Neue"/>
              </a:rPr>
              <a:t>未来出行实验室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